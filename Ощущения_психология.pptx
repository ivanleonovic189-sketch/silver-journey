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0541a6-9b82-3b9b-67c4-1ad09a564dfb}">
          <p14:sldIdLst>
            <p14:sldId id="256"/>
            <p14:sldId id="257"/>
            <p14:sldId id="258"/>
          </p14:sldIdLst>
        </p14:section>
        <p14:section name="Механизм и виды" id="{d60522a7-563a-b6ca-d12c-ab2c16d80cc6}">
          <p14:sldIdLst>
            <p14:sldId id="259"/>
            <p14:sldId id="260"/>
          </p14:sldIdLst>
        </p14:section>
        <p14:section name="Органы чувств" id="{553df270-e02e-ece5-d734-524945a48304}">
          <p14:sldIdLst>
            <p14:sldId id="261"/>
            <p14:sldId id="262"/>
            <p14:sldId id="263"/>
            <p14:sldId id="264"/>
          </p14:sldIdLst>
        </p14:section>
        <p14:section name="Свойства и патология" id="{64ae0282-1b55-43bb-fd06-76e8fe817fc5}">
          <p14:sldIdLst>
            <p14:sldId id="265"/>
            <p14:sldId id="266"/>
          </p14:sldIdLst>
        </p14:section>
        <p14:section name="Выводы" id="{066470b6-8af6-5156-ac75-9a5c394457e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презентации — ощущения. Мы разберём, что такое ощущения, как они возникают, какие бывают виды и свойства ощущений, и чем отличается работа органов чувств в норме и при патологии.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Ощущение — это начальная ступень познания. Через органы чувств мы получаем сведения о цвете, звуке, запахе, вкусе, температуре и других свойствах окружающего мира. На основе ощущений строятся более сложные процессы: восприятие, память, мышление.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человека пять основных органов чувств: глаза отвечают за зрение, уши — за слух, нос — за обоняние, язык — за вкус, кожа — за осязание. Каждый орган чувств воспринимает свой вид раздражителей и передаёт информацию в мозг.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Информация от органов чувств поступает по нервным путям в мозг, где формируется наше восприятие. Павлов назвал эту систему анализатором: рецептор, проводящие нервные пути и корковый отдел. Если повреждена любая из частей, ощущение нарушается.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классификации Ч. Шеррингтона ощущения делят на три группы. Экстероцептивные — от рецепторов на поверхности тела, отражают внешний мир. Интероцептивные — от внутренних органов. Проприоцептивные — от мышц, сухожилий и вестибулярного аппарата, сообщают о положении тела.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Зрение — ведущий канал получения информации. В норме изображение чёткое и ясное. При нарушениях — близорукости, дальнозоркости, катаракте — картинка становится размытой, человеку труднее ориентироваться.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Слух позволяет воспринимать звуки, различать их громкость, высоту и направление. Звуковая волна проходит через слуховой проход, колеблет барабанную перепонку, слуховые косточки передают колебания в улитку, где расположены рецепторы. При тугоухости звук воспринимается тихо и нечётко.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Обоняние и вкус — химические чувства: они реагируют на молекулы веществ. Запахи сильно связаны с эмоциями и воспоминаниями. Язык различает пять базовых вкусов, а богатство «вкуса» блюда во многом создаёт именно обоняние.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Кожные ощущения включают тактильные (прикосновение, давление), температурные (тепло и холод) и болевые. Боль — важный защитный сигнал: она предупреждает об опасности и повреждении тканей.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свойства ощущений: пороги чувствительности (абсолютный и разностный), адаптация — изменение чувствительности при длительном действии раздражителя, сенсибилизация — повышение чувствительности, например у музыкантов или дегустаторов, и синестезия — когда звук может вызывать ощущение цвета.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норме ощущения помогают ориентироваться в мире, учиться и общаться — это полноценное восприятие и комфортная жизнь. При патологии возникают трудности в ориентации, снижается качество жизни, и нужна помощь специалиста. Отдельно выделяют ложные ощущения — галлюцинации.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итоги. Ощущения — фундамент психической жизни человека. Все органы чувств работают согласованно. Берегите зрение, слух и здоровье в целом.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ПРЕЗЕНТАЦИЯ ПО ПСИХОЛОГИИ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Ощущения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Как мы познаём мир через органы чувств</a:t>
            </a:r>
            <a:endParaRPr lang="en-US" sz="1800" dirty="0"/>
          </a:p>
        </p:txBody>
      </p:sp>
      <p:sp>
        <p:nvSpPr>
          <p:cNvPr id="5" name="Brain frame"/>
          <p:cNvSpPr/>
          <p:nvPr/>
        </p:nvSpPr>
        <p:spPr>
          <a:xfrm>
            <a:off x="5532120" y="594360"/>
            <a:ext cx="3154680" cy="3931920"/>
          </a:xfrm>
          <a:prstGeom prst="roundRect">
            <a:avLst>
              <a:gd name="adj" fmla="val 5797"/>
            </a:avLst>
          </a:prstGeom>
          <a:solidFill>
            <a:srgbClr val="F7F6F3"/>
          </a:solidFill>
          <a:ln/>
        </p:spPr>
      </p:sp>
      <p:pic>
        <p:nvPicPr>
          <p:cNvPr id="6" name="Brain diagram" descr="Органы чувств передают информацию в моз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2971800" cy="2660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Что такое ощущение</a:t>
            </a:r>
            <a:endParaRPr lang="en-US" sz="3200" dirty="0"/>
          </a:p>
        </p:txBody>
      </p:sp>
      <p:sp>
        <p:nvSpPr>
          <p:cNvPr id="3" name="Definition card"/>
          <p:cNvSpPr/>
          <p:nvPr/>
        </p:nvSpPr>
        <p:spPr>
          <a:xfrm>
            <a:off x="457200" y="1188720"/>
            <a:ext cx="4846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Definition"/>
          <p:cNvSpPr txBox="1"/>
          <p:nvPr/>
        </p:nvSpPr>
        <p:spPr>
          <a:xfrm>
            <a:off x="685800" y="13258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Ощущение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простейший психический процесс отражения отдельных свойств предметов и явлений при их непосредственном воздействии на органы чувств.</a:t>
            </a:r>
            <a:endParaRPr lang="en-US" sz="1600" dirty="0"/>
          </a:p>
        </p:txBody>
      </p:sp>
      <p:sp>
        <p:nvSpPr>
          <p:cNvPr id="5" name="Role 1 circle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Role 1 icon" descr="Rol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3147731"/>
            <a:ext cx="215067" cy="215067"/>
          </a:xfrm>
          <a:prstGeom prst="rect">
            <a:avLst/>
          </a:prstGeom>
        </p:spPr>
      </p:pic>
      <p:sp>
        <p:nvSpPr>
          <p:cNvPr id="7" name="Role 1 text"/>
          <p:cNvSpPr txBox="1"/>
          <p:nvPr/>
        </p:nvSpPr>
        <p:spPr>
          <a:xfrm>
            <a:off x="1005840" y="30632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Источник знаний об окружающем мире</a:t>
            </a:r>
            <a:endParaRPr lang="en-US" sz="1500" dirty="0"/>
          </a:p>
        </p:txBody>
      </p:sp>
      <p:sp>
        <p:nvSpPr>
          <p:cNvPr id="8" name="Role 2 circle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le 2 icon" descr="Rol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91" y="3650651"/>
            <a:ext cx="215067" cy="215067"/>
          </a:xfrm>
          <a:prstGeom prst="rect">
            <a:avLst/>
          </a:prstGeom>
        </p:spPr>
      </p:pic>
      <p:sp>
        <p:nvSpPr>
          <p:cNvPr id="10" name="Role 2 text"/>
          <p:cNvSpPr txBox="1"/>
          <p:nvPr/>
        </p:nvSpPr>
        <p:spPr>
          <a:xfrm>
            <a:off x="1005840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Основа восприятия, памяти и мышления</a:t>
            </a:r>
            <a:endParaRPr lang="en-US" sz="1500" dirty="0"/>
          </a:p>
        </p:txBody>
      </p:sp>
      <p:sp>
        <p:nvSpPr>
          <p:cNvPr id="11" name="Role 3 circle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ole 3 icon" descr="Rol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4153571"/>
            <a:ext cx="215067" cy="215067"/>
          </a:xfrm>
          <a:prstGeom prst="rect">
            <a:avLst/>
          </a:prstGeom>
        </p:spPr>
      </p:pic>
      <p:sp>
        <p:nvSpPr>
          <p:cNvPr id="13" name="Role 3 text"/>
          <p:cNvSpPr txBox="1"/>
          <p:nvPr/>
        </p:nvSpPr>
        <p:spPr>
          <a:xfrm>
            <a:off x="1005840" y="4069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Сигнал о состоянии своего организма</a:t>
            </a:r>
            <a:endParaRPr lang="en-US" sz="1500" dirty="0"/>
          </a:p>
        </p:txBody>
      </p:sp>
      <p:pic>
        <p:nvPicPr>
          <p:cNvPr id="14" name="Photo world" descr="Человек смотрит на город и гор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88720"/>
            <a:ext cx="301752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Органы чувств человека</a:t>
            </a:r>
            <a:endParaRPr lang="en-US" sz="3200" dirty="0"/>
          </a:p>
        </p:txBody>
      </p:sp>
      <p:sp>
        <p:nvSpPr>
          <p:cNvPr id="3" name="Organs intro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С помощью органов чувств мы получаем информацию об окружающем мире и о состоянии своего организма.</a:t>
            </a:r>
            <a:endParaRPr lang="en-US" sz="1500" dirty="0"/>
          </a:p>
        </p:txBody>
      </p:sp>
      <p:sp>
        <p:nvSpPr>
          <p:cNvPr id="4" name="Зрение ring"/>
          <p:cNvSpPr/>
          <p:nvPr/>
        </p:nvSpPr>
        <p:spPr>
          <a:xfrm>
            <a:off x="594360" y="164592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Зрение photo" descr="Зрение (глаза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1243584" cy="1243584"/>
          </a:xfrm>
          <a:prstGeom prst="rect">
            <a:avLst/>
          </a:prstGeom>
        </p:spPr>
      </p:pic>
      <p:sp>
        <p:nvSpPr>
          <p:cNvPr id="6" name="Зрение title"/>
          <p:cNvSpPr txBox="1"/>
          <p:nvPr/>
        </p:nvSpPr>
        <p:spPr>
          <a:xfrm>
            <a:off x="5029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Зрение</a:t>
            </a:r>
            <a:endParaRPr lang="en-US" sz="1700" dirty="0"/>
          </a:p>
        </p:txBody>
      </p:sp>
      <p:sp>
        <p:nvSpPr>
          <p:cNvPr id="7" name="Зрение organ"/>
          <p:cNvSpPr txBox="1"/>
          <p:nvPr/>
        </p:nvSpPr>
        <p:spPr>
          <a:xfrm>
            <a:off x="50292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(глаза)</a:t>
            </a:r>
            <a:endParaRPr lang="en-US" sz="1200" dirty="0"/>
          </a:p>
        </p:txBody>
      </p:sp>
      <p:sp>
        <p:nvSpPr>
          <p:cNvPr id="8" name="Зрение text"/>
          <p:cNvSpPr txBox="1"/>
          <p:nvPr/>
        </p:nvSpPr>
        <p:spPr>
          <a:xfrm>
            <a:off x="530352" y="38404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Форма, цвет, расстояние, движение</a:t>
            </a:r>
            <a:endParaRPr lang="en-US" sz="1200" dirty="0"/>
          </a:p>
        </p:txBody>
      </p:sp>
      <p:sp>
        <p:nvSpPr>
          <p:cNvPr id="9" name="Слух ring"/>
          <p:cNvSpPr/>
          <p:nvPr/>
        </p:nvSpPr>
        <p:spPr>
          <a:xfrm>
            <a:off x="2240280" y="16459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Слух photo" descr="Слух (уши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1709928"/>
            <a:ext cx="1243584" cy="1243584"/>
          </a:xfrm>
          <a:prstGeom prst="rect">
            <a:avLst/>
          </a:prstGeom>
        </p:spPr>
      </p:pic>
      <p:sp>
        <p:nvSpPr>
          <p:cNvPr id="11" name="Слух title"/>
          <p:cNvSpPr txBox="1"/>
          <p:nvPr/>
        </p:nvSpPr>
        <p:spPr>
          <a:xfrm>
            <a:off x="214884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Слух</a:t>
            </a:r>
            <a:endParaRPr lang="en-US" sz="1700" dirty="0"/>
          </a:p>
        </p:txBody>
      </p:sp>
      <p:sp>
        <p:nvSpPr>
          <p:cNvPr id="12" name="Слух organ"/>
          <p:cNvSpPr txBox="1"/>
          <p:nvPr/>
        </p:nvSpPr>
        <p:spPr>
          <a:xfrm>
            <a:off x="214884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(уши)</a:t>
            </a:r>
            <a:endParaRPr lang="en-US" sz="1200" dirty="0"/>
          </a:p>
        </p:txBody>
      </p:sp>
      <p:sp>
        <p:nvSpPr>
          <p:cNvPr id="13" name="Слух text"/>
          <p:cNvSpPr txBox="1"/>
          <p:nvPr/>
        </p:nvSpPr>
        <p:spPr>
          <a:xfrm>
            <a:off x="2176272" y="38404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Звуки, их громкость и направление</a:t>
            </a:r>
            <a:endParaRPr lang="en-US" sz="1200" dirty="0"/>
          </a:p>
        </p:txBody>
      </p:sp>
      <p:sp>
        <p:nvSpPr>
          <p:cNvPr id="14" name="Обоняние ring"/>
          <p:cNvSpPr/>
          <p:nvPr/>
        </p:nvSpPr>
        <p:spPr>
          <a:xfrm>
            <a:off x="3886200" y="1645920"/>
            <a:ext cx="1371600" cy="13716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Обоняние photo" descr="Обоняние (нос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709928"/>
            <a:ext cx="1243584" cy="1243584"/>
          </a:xfrm>
          <a:prstGeom prst="rect">
            <a:avLst/>
          </a:prstGeom>
        </p:spPr>
      </p:pic>
      <p:sp>
        <p:nvSpPr>
          <p:cNvPr id="16" name="Обоняние title"/>
          <p:cNvSpPr txBox="1"/>
          <p:nvPr/>
        </p:nvSpPr>
        <p:spPr>
          <a:xfrm>
            <a:off x="379476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Обоняние</a:t>
            </a:r>
            <a:endParaRPr lang="en-US" sz="1700" dirty="0"/>
          </a:p>
        </p:txBody>
      </p:sp>
      <p:sp>
        <p:nvSpPr>
          <p:cNvPr id="17" name="Обоняние organ"/>
          <p:cNvSpPr txBox="1"/>
          <p:nvPr/>
        </p:nvSpPr>
        <p:spPr>
          <a:xfrm>
            <a:off x="379476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(нос)</a:t>
            </a:r>
            <a:endParaRPr lang="en-US" sz="1200" dirty="0"/>
          </a:p>
        </p:txBody>
      </p:sp>
      <p:sp>
        <p:nvSpPr>
          <p:cNvPr id="18" name="Обоняние text"/>
          <p:cNvSpPr txBox="1"/>
          <p:nvPr/>
        </p:nvSpPr>
        <p:spPr>
          <a:xfrm>
            <a:off x="3822192" y="38404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Запахи и сигналы опасности</a:t>
            </a:r>
            <a:endParaRPr lang="en-US" sz="1200" dirty="0"/>
          </a:p>
        </p:txBody>
      </p:sp>
      <p:sp>
        <p:nvSpPr>
          <p:cNvPr id="19" name="Вкус ring"/>
          <p:cNvSpPr/>
          <p:nvPr/>
        </p:nvSpPr>
        <p:spPr>
          <a:xfrm>
            <a:off x="5532120" y="164592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Вкус photo" descr="Вкус (язык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1709928"/>
            <a:ext cx="1243584" cy="1243584"/>
          </a:xfrm>
          <a:prstGeom prst="rect">
            <a:avLst/>
          </a:prstGeom>
        </p:spPr>
      </p:pic>
      <p:sp>
        <p:nvSpPr>
          <p:cNvPr id="21" name="Вкус title"/>
          <p:cNvSpPr txBox="1"/>
          <p:nvPr/>
        </p:nvSpPr>
        <p:spPr>
          <a:xfrm>
            <a:off x="54406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Вкус</a:t>
            </a:r>
            <a:endParaRPr lang="en-US" sz="1700" dirty="0"/>
          </a:p>
        </p:txBody>
      </p:sp>
      <p:sp>
        <p:nvSpPr>
          <p:cNvPr id="22" name="Вкус organ"/>
          <p:cNvSpPr txBox="1"/>
          <p:nvPr/>
        </p:nvSpPr>
        <p:spPr>
          <a:xfrm>
            <a:off x="544068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(язык)</a:t>
            </a:r>
            <a:endParaRPr lang="en-US" sz="1200" dirty="0"/>
          </a:p>
        </p:txBody>
      </p:sp>
      <p:sp>
        <p:nvSpPr>
          <p:cNvPr id="23" name="Вкус text"/>
          <p:cNvSpPr txBox="1"/>
          <p:nvPr/>
        </p:nvSpPr>
        <p:spPr>
          <a:xfrm>
            <a:off x="5468112" y="38404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Сладкое, солёное, кислое, горькое</a:t>
            </a:r>
            <a:endParaRPr lang="en-US" sz="1200" dirty="0"/>
          </a:p>
        </p:txBody>
      </p:sp>
      <p:sp>
        <p:nvSpPr>
          <p:cNvPr id="24" name="Осязание ring"/>
          <p:cNvSpPr/>
          <p:nvPr/>
        </p:nvSpPr>
        <p:spPr>
          <a:xfrm>
            <a:off x="7178040" y="1645920"/>
            <a:ext cx="1371600" cy="13716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Осязание photo" descr="Осязание (кожа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709928"/>
            <a:ext cx="1243584" cy="1243584"/>
          </a:xfrm>
          <a:prstGeom prst="rect">
            <a:avLst/>
          </a:prstGeom>
        </p:spPr>
      </p:pic>
      <p:sp>
        <p:nvSpPr>
          <p:cNvPr id="26" name="Осязание title"/>
          <p:cNvSpPr txBox="1"/>
          <p:nvPr/>
        </p:nvSpPr>
        <p:spPr>
          <a:xfrm>
            <a:off x="708660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Осязание</a:t>
            </a:r>
            <a:endParaRPr lang="en-US" sz="1700" dirty="0"/>
          </a:p>
        </p:txBody>
      </p:sp>
      <p:sp>
        <p:nvSpPr>
          <p:cNvPr id="27" name="Осязание organ"/>
          <p:cNvSpPr txBox="1"/>
          <p:nvPr/>
        </p:nvSpPr>
        <p:spPr>
          <a:xfrm>
            <a:off x="708660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(кожа)</a:t>
            </a:r>
            <a:endParaRPr lang="en-US" sz="1200" dirty="0"/>
          </a:p>
        </p:txBody>
      </p:sp>
      <p:sp>
        <p:nvSpPr>
          <p:cNvPr id="28" name="Осязание text"/>
          <p:cNvSpPr txBox="1"/>
          <p:nvPr/>
        </p:nvSpPr>
        <p:spPr>
          <a:xfrm>
            <a:off x="7114032" y="38404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Прикосновение, тепло, холод, боль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Как работают ощущения</a:t>
            </a:r>
            <a:endParaRPr lang="en-US" sz="3200" dirty="0"/>
          </a:p>
        </p:txBody>
      </p:sp>
      <p:pic>
        <p:nvPicPr>
          <p:cNvPr id="3" name="Brain diagram" descr="Нервные пути от органов чувств к мозг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0" cy="3685032"/>
          </a:xfrm>
          <a:prstGeom prst="rect">
            <a:avLst/>
          </a:prstGeom>
        </p:spPr>
      </p:pic>
      <p:sp>
        <p:nvSpPr>
          <p:cNvPr id="4" name="Analyzer intro"/>
          <p:cNvSpPr txBox="1"/>
          <p:nvPr/>
        </p:nvSpPr>
        <p:spPr>
          <a:xfrm>
            <a:off x="493776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Анализатор (по И. П. Павлову) состоит из трёх частей:</a:t>
            </a:r>
            <a:endParaRPr lang="en-US" sz="1400" dirty="0"/>
          </a:p>
        </p:txBody>
      </p:sp>
      <p:sp>
        <p:nvSpPr>
          <p:cNvPr id="5" name="Step 1 number"/>
          <p:cNvSpPr txBox="1"/>
          <p:nvPr/>
        </p:nvSpPr>
        <p:spPr>
          <a:xfrm>
            <a:off x="493776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1 title"/>
          <p:cNvSpPr txBox="1"/>
          <p:nvPr/>
        </p:nvSpPr>
        <p:spPr>
          <a:xfrm>
            <a:off x="5623560" y="16550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Рецептор</a:t>
            </a:r>
            <a:endParaRPr lang="en-US" sz="1600" dirty="0"/>
          </a:p>
        </p:txBody>
      </p:sp>
      <p:sp>
        <p:nvSpPr>
          <p:cNvPr id="7" name="Step 1 text"/>
          <p:cNvSpPr txBox="1"/>
          <p:nvPr/>
        </p:nvSpPr>
        <p:spPr>
          <a:xfrm>
            <a:off x="5623560" y="1965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Воспринимает раздражитель и превращает его энергию в нервный импульс</a:t>
            </a:r>
            <a:endParaRPr lang="en-US" sz="1400" dirty="0"/>
          </a:p>
        </p:txBody>
      </p:sp>
      <p:sp>
        <p:nvSpPr>
          <p:cNvPr id="8" name="Step 2 number"/>
          <p:cNvSpPr txBox="1"/>
          <p:nvPr/>
        </p:nvSpPr>
        <p:spPr>
          <a:xfrm>
            <a:off x="4937760" y="27157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tep 2 title"/>
          <p:cNvSpPr txBox="1"/>
          <p:nvPr/>
        </p:nvSpPr>
        <p:spPr>
          <a:xfrm>
            <a:off x="5623560" y="26791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Проводящие пути</a:t>
            </a:r>
            <a:endParaRPr lang="en-US" sz="1600" dirty="0"/>
          </a:p>
        </p:txBody>
      </p:sp>
      <p:sp>
        <p:nvSpPr>
          <p:cNvPr id="10" name="Step 2 text"/>
          <p:cNvSpPr txBox="1"/>
          <p:nvPr/>
        </p:nvSpPr>
        <p:spPr>
          <a:xfrm>
            <a:off x="5623560" y="2990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Передают нервный импульс от органа чувств в мозг</a:t>
            </a:r>
            <a:endParaRPr lang="en-US" sz="1400" dirty="0"/>
          </a:p>
        </p:txBody>
      </p:sp>
      <p:sp>
        <p:nvSpPr>
          <p:cNvPr id="11" name="Step 3 number"/>
          <p:cNvSpPr txBox="1"/>
          <p:nvPr/>
        </p:nvSpPr>
        <p:spPr>
          <a:xfrm>
            <a:off x="4937760" y="37398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Step 3 title"/>
          <p:cNvSpPr txBox="1"/>
          <p:nvPr/>
        </p:nvSpPr>
        <p:spPr>
          <a:xfrm>
            <a:off x="5623560" y="37033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Корковый отдел</a:t>
            </a:r>
            <a:endParaRPr lang="en-US" sz="1600" dirty="0"/>
          </a:p>
        </p:txBody>
      </p:sp>
      <p:sp>
        <p:nvSpPr>
          <p:cNvPr id="13" name="Step 3 text"/>
          <p:cNvSpPr txBox="1"/>
          <p:nvPr/>
        </p:nvSpPr>
        <p:spPr>
          <a:xfrm>
            <a:off x="5623560" y="401421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коре головного мозга информация обрабатывается — возникает ощущение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Виды ощущений</a:t>
            </a:r>
            <a:endParaRPr lang="en-US" sz="3200" dirty="0"/>
          </a:p>
        </p:txBody>
      </p:sp>
      <p:sp>
        <p:nvSpPr>
          <p:cNvPr id="3" name="Экстероцептивные card"/>
          <p:cNvSpPr/>
          <p:nvPr/>
        </p:nvSpPr>
        <p:spPr>
          <a:xfrm>
            <a:off x="457200" y="118872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Экстероцептивные circle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Экстероцептивные icon" descr="Экстероцептивны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578254"/>
            <a:ext cx="409651" cy="409651"/>
          </a:xfrm>
          <a:prstGeom prst="rect">
            <a:avLst/>
          </a:prstGeom>
        </p:spPr>
      </p:pic>
      <p:sp>
        <p:nvSpPr>
          <p:cNvPr id="6" name="Экстероцептивные title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Экстероцептивные</a:t>
            </a:r>
            <a:endParaRPr lang="en-US" sz="1500" dirty="0"/>
          </a:p>
        </p:txBody>
      </p:sp>
      <p:sp>
        <p:nvSpPr>
          <p:cNvPr id="7" name="Экстероцептивные text"/>
          <p:cNvSpPr txBox="1"/>
          <p:nvPr/>
        </p:nvSpPr>
        <p:spPr>
          <a:xfrm>
            <a:off x="73152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Отражают свойства внешнего мира</a:t>
            </a:r>
            <a:endParaRPr lang="en-US" sz="1400" dirty="0"/>
          </a:p>
        </p:txBody>
      </p:sp>
      <p:sp>
        <p:nvSpPr>
          <p:cNvPr id="8" name="Экстероцептивные examples"/>
          <p:cNvSpPr txBox="1"/>
          <p:nvPr/>
        </p:nvSpPr>
        <p:spPr>
          <a:xfrm>
            <a:off x="73152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Примеры: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Зрение, слух, обоняние, вкус, осязание</a:t>
            </a:r>
            <a:endParaRPr lang="en-US" sz="1400" dirty="0"/>
          </a:p>
        </p:txBody>
      </p:sp>
      <p:sp>
        <p:nvSpPr>
          <p:cNvPr id="9" name="Интероцептивные card"/>
          <p:cNvSpPr/>
          <p:nvPr/>
        </p:nvSpPr>
        <p:spPr>
          <a:xfrm>
            <a:off x="3291840" y="118872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Интероцептивные circle"/>
          <p:cNvSpPr/>
          <p:nvPr/>
        </p:nvSpPr>
        <p:spPr>
          <a:xfrm>
            <a:off x="356616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Интероцептивные icon" descr="Интероцептивны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094" y="1578254"/>
            <a:ext cx="409651" cy="409651"/>
          </a:xfrm>
          <a:prstGeom prst="rect">
            <a:avLst/>
          </a:prstGeom>
        </p:spPr>
      </p:pic>
      <p:sp>
        <p:nvSpPr>
          <p:cNvPr id="12" name="Интероцептивные title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Интероцептивные</a:t>
            </a:r>
            <a:endParaRPr lang="en-US" sz="1500" dirty="0"/>
          </a:p>
        </p:txBody>
      </p:sp>
      <p:sp>
        <p:nvSpPr>
          <p:cNvPr id="13" name="Интероцептивные text"/>
          <p:cNvSpPr txBox="1"/>
          <p:nvPr/>
        </p:nvSpPr>
        <p:spPr>
          <a:xfrm>
            <a:off x="356616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Сигнализируют о состоянии внутренних органов</a:t>
            </a:r>
            <a:endParaRPr lang="en-US" sz="1400" dirty="0"/>
          </a:p>
        </p:txBody>
      </p:sp>
      <p:sp>
        <p:nvSpPr>
          <p:cNvPr id="14" name="Интероцептивные examples"/>
          <p:cNvSpPr txBox="1"/>
          <p:nvPr/>
        </p:nvSpPr>
        <p:spPr>
          <a:xfrm>
            <a:off x="356616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Примеры: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Голод, жажда, тошнота, внутренняя боль</a:t>
            </a:r>
            <a:endParaRPr lang="en-US" sz="1400" dirty="0"/>
          </a:p>
        </p:txBody>
      </p:sp>
      <p:sp>
        <p:nvSpPr>
          <p:cNvPr id="15" name="Проприоцептивные card"/>
          <p:cNvSpPr/>
          <p:nvPr/>
        </p:nvSpPr>
        <p:spPr>
          <a:xfrm>
            <a:off x="6126480" y="118872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6" name="Проприоцептивные circle"/>
          <p:cNvSpPr/>
          <p:nvPr/>
        </p:nvSpPr>
        <p:spPr>
          <a:xfrm>
            <a:off x="6400800" y="1417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Проприоцептивные icon" descr="Проприоцептивны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34" y="1578254"/>
            <a:ext cx="409651" cy="409651"/>
          </a:xfrm>
          <a:prstGeom prst="rect">
            <a:avLst/>
          </a:prstGeom>
        </p:spPr>
      </p:pic>
      <p:sp>
        <p:nvSpPr>
          <p:cNvPr id="18" name="Проприоцептивные title"/>
          <p:cNvSpPr txBox="1"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Проприоцептивные</a:t>
            </a:r>
            <a:endParaRPr lang="en-US" sz="1500" dirty="0"/>
          </a:p>
        </p:txBody>
      </p:sp>
      <p:sp>
        <p:nvSpPr>
          <p:cNvPr id="19" name="Проприоцептивные text"/>
          <p:cNvSpPr txBox="1"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Сообщают о положении и движении тела</a:t>
            </a:r>
            <a:endParaRPr lang="en-US" sz="1400" dirty="0"/>
          </a:p>
        </p:txBody>
      </p:sp>
      <p:sp>
        <p:nvSpPr>
          <p:cNvPr id="20" name="Проприоцептивные examples"/>
          <p:cNvSpPr txBox="1"/>
          <p:nvPr/>
        </p:nvSpPr>
        <p:spPr>
          <a:xfrm>
            <a:off x="640080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Примеры: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Равновесие, мышечное чувство, координация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Зрение</a:t>
            </a:r>
            <a:endParaRPr lang="en-US" sz="3200" dirty="0"/>
          </a:p>
        </p:txBody>
      </p:sp>
      <p:sp>
        <p:nvSpPr>
          <p:cNvPr id="3" name="Vision stat"/>
          <p:cNvSpPr txBox="1"/>
          <p:nvPr/>
        </p:nvSpPr>
        <p:spPr>
          <a:xfrm>
            <a:off x="457200" y="1143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≈80%</a:t>
            </a:r>
            <a:endParaRPr lang="en-US" sz="6000" dirty="0"/>
          </a:p>
        </p:txBody>
      </p:sp>
      <p:sp>
        <p:nvSpPr>
          <p:cNvPr id="4" name="Vision stat label"/>
          <p:cNvSpPr txBox="1"/>
          <p:nvPr/>
        </p:nvSpPr>
        <p:spPr>
          <a:xfrm>
            <a:off x="4572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информации о мире человек получает через зрение</a:t>
            </a:r>
            <a:endParaRPr lang="en-US" sz="1400" dirty="0"/>
          </a:p>
        </p:txBody>
      </p:sp>
      <p:sp>
        <p:nvSpPr>
          <p:cNvPr id="5" name="Vision text"/>
          <p:cNvSpPr txBox="1"/>
          <p:nvPr/>
        </p:nvSpPr>
        <p:spPr>
          <a:xfrm>
            <a:off x="457200" y="2743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Зрение помогает видеть форму, цвет, расстояние и движение предметов.</a:t>
            </a:r>
            <a:endParaRPr lang="en-US" sz="1600" dirty="0"/>
          </a:p>
        </p:txBody>
      </p:sp>
      <p:sp>
        <p:nvSpPr>
          <p:cNvPr id="6" name="Vision disorders"/>
          <p:cNvSpPr txBox="1"/>
          <p:nvPr/>
        </p:nvSpPr>
        <p:spPr>
          <a:xfrm>
            <a:off x="457200" y="3703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Нарушения: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близорукость, дальнозоркость, катаракта и др.</a:t>
            </a:r>
            <a:endParaRPr lang="en-US" sz="1400" dirty="0"/>
          </a:p>
        </p:txBody>
      </p:sp>
      <p:sp>
        <p:nvSpPr>
          <p:cNvPr id="7" name="Norm label"/>
          <p:cNvSpPr txBox="1"/>
          <p:nvPr/>
        </p:nvSpPr>
        <p:spPr>
          <a:xfrm>
            <a:off x="4114800" y="1143000"/>
            <a:ext cx="21945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Норма</a:t>
            </a:r>
            <a:endParaRPr lang="en-US" sz="1400" dirty="0"/>
          </a:p>
        </p:txBody>
      </p:sp>
      <p:sp>
        <p:nvSpPr>
          <p:cNvPr id="8" name="Pathology label"/>
          <p:cNvSpPr txBox="1"/>
          <p:nvPr/>
        </p:nvSpPr>
        <p:spPr>
          <a:xfrm>
            <a:off x="6492240" y="1143000"/>
            <a:ext cx="2194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Патология</a:t>
            </a:r>
            <a:endParaRPr lang="en-US" sz="1400" dirty="0"/>
          </a:p>
        </p:txBody>
      </p:sp>
      <p:pic>
        <p:nvPicPr>
          <p:cNvPr id="9" name="Clear landscape" descr="Чёткое изображение го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00200"/>
            <a:ext cx="2194560" cy="1508760"/>
          </a:xfrm>
          <a:prstGeom prst="rect">
            <a:avLst/>
          </a:prstGeom>
        </p:spPr>
      </p:pic>
      <p:pic>
        <p:nvPicPr>
          <p:cNvPr id="10" name="Blurred landscape" descr="Размытое изображение го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2194560" cy="1508760"/>
          </a:xfrm>
          <a:prstGeom prst="rect">
            <a:avLst/>
          </a:prstGeom>
        </p:spPr>
      </p:pic>
      <p:pic>
        <p:nvPicPr>
          <p:cNvPr id="11" name="Healthy eye" descr="Здоровый глаз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91840"/>
            <a:ext cx="2194560" cy="1307592"/>
          </a:xfrm>
          <a:prstGeom prst="rect">
            <a:avLst/>
          </a:prstGeom>
        </p:spPr>
      </p:pic>
      <p:pic>
        <p:nvPicPr>
          <p:cNvPr id="12" name="Blurred eye" descr="Размытый глаз — нарушение зрени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91840"/>
            <a:ext cx="2194560" cy="1307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Слух</a:t>
            </a:r>
            <a:endParaRPr lang="en-US" sz="3200" dirty="0"/>
          </a:p>
        </p:txBody>
      </p:sp>
      <p:pic>
        <p:nvPicPr>
          <p:cNvPr id="3" name="Ear diagram" descr="Строение уха: ушная раковина, слуховой проход, барабанная перепонка, слуховые косточки, улит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663440" cy="3108960"/>
          </a:xfrm>
          <a:prstGeom prst="rect">
            <a:avLst/>
          </a:prstGeom>
        </p:spPr>
      </p:pic>
      <p:sp>
        <p:nvSpPr>
          <p:cNvPr id="4" name="Ear caption"/>
          <p:cNvSpPr txBox="1"/>
          <p:nvPr/>
        </p:nvSpPr>
        <p:spPr>
          <a:xfrm>
            <a:off x="457200" y="4343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Строение уха: от ушной раковины до улитки внутреннего уха</a:t>
            </a:r>
            <a:endParaRPr lang="en-US" sz="1200" dirty="0"/>
          </a:p>
        </p:txBody>
      </p:sp>
      <p:sp>
        <p:nvSpPr>
          <p:cNvPr id="5" name="Hearing stat"/>
          <p:cNvSpPr txBox="1"/>
          <p:nvPr/>
        </p:nvSpPr>
        <p:spPr>
          <a:xfrm>
            <a:off x="5486400" y="1143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Гц – 20 кГц</a:t>
            </a:r>
            <a:endParaRPr lang="en-US" sz="2800" dirty="0"/>
          </a:p>
        </p:txBody>
      </p:sp>
      <p:sp>
        <p:nvSpPr>
          <p:cNvPr id="6" name="Hearing stat label"/>
          <p:cNvSpPr txBox="1"/>
          <p:nvPr/>
        </p:nvSpPr>
        <p:spPr>
          <a:xfrm>
            <a:off x="54864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диапазон звуков, которые слышит человек</a:t>
            </a:r>
            <a:endParaRPr lang="en-US" sz="1400" dirty="0"/>
          </a:p>
        </p:txBody>
      </p:sp>
      <p:sp>
        <p:nvSpPr>
          <p:cNvPr id="7" name="Норма circle"/>
          <p:cNvSpPr/>
          <p:nvPr/>
        </p:nvSpPr>
        <p:spPr>
          <a:xfrm>
            <a:off x="5486400" y="22402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Норма icon" descr="Норм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2340864"/>
            <a:ext cx="256032" cy="256032"/>
          </a:xfrm>
          <a:prstGeom prst="rect">
            <a:avLst/>
          </a:prstGeom>
        </p:spPr>
      </p:pic>
      <p:sp>
        <p:nvSpPr>
          <p:cNvPr id="9" name="Норма title"/>
          <p:cNvSpPr txBox="1"/>
          <p:nvPr/>
        </p:nvSpPr>
        <p:spPr>
          <a:xfrm>
            <a:off x="6080760" y="2221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Норма</a:t>
            </a:r>
            <a:endParaRPr lang="en-US" sz="1600" dirty="0"/>
          </a:p>
        </p:txBody>
      </p:sp>
      <p:sp>
        <p:nvSpPr>
          <p:cNvPr id="10" name="Норма text"/>
          <p:cNvSpPr txBox="1"/>
          <p:nvPr/>
        </p:nvSpPr>
        <p:spPr>
          <a:xfrm>
            <a:off x="6080760" y="2532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Звук воспринимается чётко; различаем громкость, высоту и направление</a:t>
            </a:r>
            <a:endParaRPr lang="en-US" sz="1400" dirty="0"/>
          </a:p>
        </p:txBody>
      </p:sp>
      <p:sp>
        <p:nvSpPr>
          <p:cNvPr id="11" name="Патология circle"/>
          <p:cNvSpPr/>
          <p:nvPr/>
        </p:nvSpPr>
        <p:spPr>
          <a:xfrm>
            <a:off x="54864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Патология icon" descr="Патолог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3621024"/>
            <a:ext cx="256032" cy="256032"/>
          </a:xfrm>
          <a:prstGeom prst="rect">
            <a:avLst/>
          </a:prstGeom>
        </p:spPr>
      </p:pic>
      <p:sp>
        <p:nvSpPr>
          <p:cNvPr id="13" name="Патология title"/>
          <p:cNvSpPr txBox="1"/>
          <p:nvPr/>
        </p:nvSpPr>
        <p:spPr>
          <a:xfrm>
            <a:off x="6080760" y="3502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Патология</a:t>
            </a:r>
            <a:endParaRPr lang="en-US" sz="1600" dirty="0"/>
          </a:p>
        </p:txBody>
      </p:sp>
      <p:sp>
        <p:nvSpPr>
          <p:cNvPr id="14" name="Патология text"/>
          <p:cNvSpPr txBox="1"/>
          <p:nvPr/>
        </p:nvSpPr>
        <p:spPr>
          <a:xfrm>
            <a:off x="6080760" y="38130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Снижение слуха (тугоухость), шум в ушах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Обоняние и вкус</a:t>
            </a:r>
            <a:endParaRPr lang="en-US" sz="3200" dirty="0"/>
          </a:p>
        </p:txBody>
      </p:sp>
      <p:sp>
        <p:nvSpPr>
          <p:cNvPr id="3" name="Smell card"/>
          <p:cNvSpPr/>
          <p:nvPr/>
        </p:nvSpPr>
        <p:spPr>
          <a:xfrm>
            <a:off x="457200" y="1188720"/>
            <a:ext cx="39776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Taste card"/>
          <p:cNvSpPr/>
          <p:nvPr/>
        </p:nvSpPr>
        <p:spPr>
          <a:xfrm>
            <a:off x="4709160" y="1188720"/>
            <a:ext cx="39776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5" name="Обоняние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Обоняние icon" descr="Обоня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58138"/>
            <a:ext cx="358445" cy="358445"/>
          </a:xfrm>
          <a:prstGeom prst="rect">
            <a:avLst/>
          </a:prstGeom>
        </p:spPr>
      </p:pic>
      <p:sp>
        <p:nvSpPr>
          <p:cNvPr id="7" name="Smell title"/>
          <p:cNvSpPr txBox="1"/>
          <p:nvPr/>
        </p:nvSpPr>
        <p:spPr>
          <a:xfrm>
            <a:off x="146304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Обоняние</a:t>
            </a:r>
            <a:endParaRPr lang="en-US" sz="2000" dirty="0"/>
          </a:p>
        </p:txBody>
      </p:sp>
      <p:sp>
        <p:nvSpPr>
          <p:cNvPr id="8" name="Smell list"/>
          <p:cNvSpPr txBox="1"/>
          <p:nvPr/>
        </p:nvSpPr>
        <p:spPr>
          <a:xfrm>
            <a:off x="685800" y="22402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Распознаёт тысячи запахов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Тесно связано с памятью и эмоциями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Предупреждает об опасности: дым, газ, испорченная еда</a:t>
            </a:r>
            <a:endParaRPr lang="en-US" sz="1400" dirty="0"/>
          </a:p>
        </p:txBody>
      </p:sp>
      <p:sp>
        <p:nvSpPr>
          <p:cNvPr id="9" name="Вкус circle"/>
          <p:cNvSpPr/>
          <p:nvPr/>
        </p:nvSpPr>
        <p:spPr>
          <a:xfrm>
            <a:off x="493776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Вкус icon" descr="Вку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578" y="1558138"/>
            <a:ext cx="358445" cy="358445"/>
          </a:xfrm>
          <a:prstGeom prst="rect">
            <a:avLst/>
          </a:prstGeom>
        </p:spPr>
      </p:pic>
      <p:sp>
        <p:nvSpPr>
          <p:cNvPr id="11" name="Taste title"/>
          <p:cNvSpPr txBox="1"/>
          <p:nvPr/>
        </p:nvSpPr>
        <p:spPr>
          <a:xfrm>
            <a:off x="571500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Вкус</a:t>
            </a:r>
            <a:endParaRPr lang="en-US" sz="2000" dirty="0"/>
          </a:p>
        </p:txBody>
      </p:sp>
      <p:sp>
        <p:nvSpPr>
          <p:cNvPr id="12" name="Taste intro"/>
          <p:cNvSpPr txBox="1"/>
          <p:nvPr/>
        </p:nvSpPr>
        <p:spPr>
          <a:xfrm>
            <a:off x="493776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Пять базовых вкусов:</a:t>
            </a:r>
            <a:endParaRPr lang="en-US" sz="1400" dirty="0"/>
          </a:p>
        </p:txBody>
      </p:sp>
      <p:sp>
        <p:nvSpPr>
          <p:cNvPr id="13" name="Taste сладкий"/>
          <p:cNvSpPr txBox="1"/>
          <p:nvPr/>
        </p:nvSpPr>
        <p:spPr>
          <a:xfrm>
            <a:off x="4937760" y="2651760"/>
            <a:ext cx="1078992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сладкий</a:t>
            </a:r>
            <a:endParaRPr lang="en-US" sz="1400" dirty="0"/>
          </a:p>
        </p:txBody>
      </p:sp>
      <p:sp>
        <p:nvSpPr>
          <p:cNvPr id="14" name="Taste солёный"/>
          <p:cNvSpPr txBox="1"/>
          <p:nvPr/>
        </p:nvSpPr>
        <p:spPr>
          <a:xfrm>
            <a:off x="6126480" y="2651760"/>
            <a:ext cx="1078992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солёный</a:t>
            </a:r>
            <a:endParaRPr lang="en-US" sz="1400" dirty="0"/>
          </a:p>
        </p:txBody>
      </p:sp>
      <p:sp>
        <p:nvSpPr>
          <p:cNvPr id="15" name="Taste кислый"/>
          <p:cNvSpPr txBox="1"/>
          <p:nvPr/>
        </p:nvSpPr>
        <p:spPr>
          <a:xfrm>
            <a:off x="7315200" y="2651760"/>
            <a:ext cx="1078992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кислый</a:t>
            </a:r>
            <a:endParaRPr lang="en-US" sz="1400" dirty="0"/>
          </a:p>
        </p:txBody>
      </p:sp>
      <p:sp>
        <p:nvSpPr>
          <p:cNvPr id="16" name="Taste горький"/>
          <p:cNvSpPr txBox="1"/>
          <p:nvPr/>
        </p:nvSpPr>
        <p:spPr>
          <a:xfrm>
            <a:off x="4937760" y="3108960"/>
            <a:ext cx="1078992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горький</a:t>
            </a:r>
            <a:endParaRPr lang="en-US" sz="1400" dirty="0"/>
          </a:p>
        </p:txBody>
      </p:sp>
      <p:sp>
        <p:nvSpPr>
          <p:cNvPr id="17" name="Taste умами"/>
          <p:cNvSpPr txBox="1"/>
          <p:nvPr/>
        </p:nvSpPr>
        <p:spPr>
          <a:xfrm>
            <a:off x="6126480" y="3108960"/>
            <a:ext cx="107899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умами</a:t>
            </a:r>
            <a:endParaRPr lang="en-US" sz="1400" dirty="0"/>
          </a:p>
        </p:txBody>
      </p:sp>
      <p:sp>
        <p:nvSpPr>
          <p:cNvPr id="18" name="Link note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pic>
        <p:nvPicPr>
          <p:cNvPr id="19" name="Link icon" descr="Связ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" cy="365760"/>
          </a:xfrm>
          <a:prstGeom prst="rect">
            <a:avLst/>
          </a:prstGeom>
        </p:spPr>
      </p:pic>
      <p:sp>
        <p:nvSpPr>
          <p:cNvPr id="20" name="Link text"/>
          <p:cNvSpPr txBox="1"/>
          <p:nvPr/>
        </p:nvSpPr>
        <p:spPr>
          <a:xfrm>
            <a:off x="1234440" y="393192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Вкус и запах работают вместе: при насморке еда кажется «безвкусной»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Тактильные ощущения</a:t>
            </a:r>
            <a:endParaRPr lang="en-US" sz="3200" dirty="0"/>
          </a:p>
        </p:txBody>
      </p:sp>
      <p:sp>
        <p:nvSpPr>
          <p:cNvPr id="3" name="Прикосновение card"/>
          <p:cNvSpPr/>
          <p:nvPr/>
        </p:nvSpPr>
        <p:spPr>
          <a:xfrm>
            <a:off x="457200" y="114300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4" name="Прикосновение photo" descr="Прикоснове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560320" cy="1188720"/>
          </a:xfrm>
          <a:prstGeom prst="rect">
            <a:avLst/>
          </a:prstGeom>
        </p:spPr>
      </p:pic>
      <p:sp>
        <p:nvSpPr>
          <p:cNvPr id="5" name="Прикосновение title"/>
          <p:cNvSpPr txBox="1"/>
          <p:nvPr/>
        </p:nvSpPr>
        <p:spPr>
          <a:xfrm>
            <a:off x="6858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Прикосновение</a:t>
            </a:r>
            <a:endParaRPr lang="en-US" sz="1700" dirty="0"/>
          </a:p>
        </p:txBody>
      </p:sp>
      <p:sp>
        <p:nvSpPr>
          <p:cNvPr id="6" name="Прикосновение text"/>
          <p:cNvSpPr txBox="1"/>
          <p:nvPr/>
        </p:nvSpPr>
        <p:spPr>
          <a:xfrm>
            <a:off x="685800" y="2852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Давление, текстура и форма предметов</a:t>
            </a:r>
            <a:endParaRPr lang="en-US" sz="1400" dirty="0"/>
          </a:p>
        </p:txBody>
      </p:sp>
      <p:sp>
        <p:nvSpPr>
          <p:cNvPr id="7" name="Температура card"/>
          <p:cNvSpPr/>
          <p:nvPr/>
        </p:nvSpPr>
        <p:spPr>
          <a:xfrm>
            <a:off x="3291840" y="114300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8" name="Температура photo" descr="Температур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2560320" cy="1188720"/>
          </a:xfrm>
          <a:prstGeom prst="rect">
            <a:avLst/>
          </a:prstGeom>
        </p:spPr>
      </p:pic>
      <p:sp>
        <p:nvSpPr>
          <p:cNvPr id="9" name="Температура title"/>
          <p:cNvSpPr txBox="1"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Температура</a:t>
            </a:r>
            <a:endParaRPr lang="en-US" sz="1700" dirty="0"/>
          </a:p>
        </p:txBody>
      </p:sp>
      <p:sp>
        <p:nvSpPr>
          <p:cNvPr id="10" name="Температура text"/>
          <p:cNvSpPr txBox="1"/>
          <p:nvPr/>
        </p:nvSpPr>
        <p:spPr>
          <a:xfrm>
            <a:off x="3520440" y="2852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Тепло и холод — защищают от ожогов и переохлаждения</a:t>
            </a:r>
            <a:endParaRPr lang="en-US" sz="1400" dirty="0"/>
          </a:p>
        </p:txBody>
      </p:sp>
      <p:sp>
        <p:nvSpPr>
          <p:cNvPr id="11" name="Боль card"/>
          <p:cNvSpPr/>
          <p:nvPr/>
        </p:nvSpPr>
        <p:spPr>
          <a:xfrm>
            <a:off x="6126480" y="114300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12" name="Боль photo" descr="Бол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2560320" cy="1188720"/>
          </a:xfrm>
          <a:prstGeom prst="rect">
            <a:avLst/>
          </a:prstGeom>
        </p:spPr>
      </p:pic>
      <p:sp>
        <p:nvSpPr>
          <p:cNvPr id="13" name="Боль title"/>
          <p:cNvSpPr txBox="1"/>
          <p:nvPr/>
        </p:nvSpPr>
        <p:spPr>
          <a:xfrm>
            <a:off x="63550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Боль</a:t>
            </a:r>
            <a:endParaRPr lang="en-US" sz="1700" dirty="0"/>
          </a:p>
        </p:txBody>
      </p:sp>
      <p:sp>
        <p:nvSpPr>
          <p:cNvPr id="14" name="Боль text"/>
          <p:cNvSpPr txBox="1"/>
          <p:nvPr/>
        </p:nvSpPr>
        <p:spPr>
          <a:xfrm>
            <a:off x="6355080" y="2852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Сигнал опасности: защищает организм от повреждений</a:t>
            </a:r>
            <a:endParaRPr lang="en-US" sz="1400" dirty="0"/>
          </a:p>
        </p:txBody>
      </p:sp>
      <p:sp>
        <p:nvSpPr>
          <p:cNvPr id="15" name="Touch summary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Кожа — самый большой орган чувств. Благодаря ей мы чувствуем предметы, избегаем опасности и заботимся о своём теле.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Свойства ощущений</a:t>
            </a:r>
            <a:endParaRPr lang="en-US" sz="3200" dirty="0"/>
          </a:p>
        </p:txBody>
      </p:sp>
      <p:sp>
        <p:nvSpPr>
          <p:cNvPr id="3" name="Порог чувствительности card"/>
          <p:cNvSpPr/>
          <p:nvPr/>
        </p:nvSpPr>
        <p:spPr>
          <a:xfrm>
            <a:off x="457200" y="11430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Порог чувствительности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Порог чувствительности icon" descr="Порог чувствительност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307238" cy="307238"/>
          </a:xfrm>
          <a:prstGeom prst="rect">
            <a:avLst/>
          </a:prstGeom>
        </p:spPr>
      </p:pic>
      <p:sp>
        <p:nvSpPr>
          <p:cNvPr id="6" name="Порог чувствительности title"/>
          <p:cNvSpPr txBox="1"/>
          <p:nvPr/>
        </p:nvSpPr>
        <p:spPr>
          <a:xfrm>
            <a:off x="14173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Порог чувствительности</a:t>
            </a:r>
            <a:endParaRPr lang="en-US" sz="1600" dirty="0"/>
          </a:p>
        </p:txBody>
      </p:sp>
      <p:sp>
        <p:nvSpPr>
          <p:cNvPr id="7" name="Порог чувствительности text"/>
          <p:cNvSpPr txBox="1"/>
          <p:nvPr/>
        </p:nvSpPr>
        <p:spPr>
          <a:xfrm>
            <a:off x="1417320" y="17647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Минимальная сила раздражителя, которая вызывает едва заметное ощущение</a:t>
            </a:r>
            <a:endParaRPr lang="en-US" sz="1400" dirty="0"/>
          </a:p>
        </p:txBody>
      </p:sp>
      <p:sp>
        <p:nvSpPr>
          <p:cNvPr id="8" name="Адаптация card"/>
          <p:cNvSpPr/>
          <p:nvPr/>
        </p:nvSpPr>
        <p:spPr>
          <a:xfrm>
            <a:off x="4663440" y="11430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Адаптация circle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Адаптация icon" descr="Адаптац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538021"/>
            <a:ext cx="307238" cy="307238"/>
          </a:xfrm>
          <a:prstGeom prst="rect">
            <a:avLst/>
          </a:prstGeom>
        </p:spPr>
      </p:pic>
      <p:sp>
        <p:nvSpPr>
          <p:cNvPr id="11" name="Адаптация title"/>
          <p:cNvSpPr txBox="1"/>
          <p:nvPr/>
        </p:nvSpPr>
        <p:spPr>
          <a:xfrm>
            <a:off x="562356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Адаптация</a:t>
            </a:r>
            <a:endParaRPr lang="en-US" sz="1600" dirty="0"/>
          </a:p>
        </p:txBody>
      </p:sp>
      <p:sp>
        <p:nvSpPr>
          <p:cNvPr id="12" name="Адаптация text"/>
          <p:cNvSpPr txBox="1"/>
          <p:nvPr/>
        </p:nvSpPr>
        <p:spPr>
          <a:xfrm>
            <a:off x="5623560" y="17647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Привыкание к раздражителю: со временем мы перестаём замечать запах в комнате</a:t>
            </a:r>
            <a:endParaRPr lang="en-US" sz="1400" dirty="0"/>
          </a:p>
        </p:txBody>
      </p:sp>
      <p:sp>
        <p:nvSpPr>
          <p:cNvPr id="13" name="Сенсибилизация card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Сенсибилизация circle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Сенсибилизация icon" descr="Сенсибилизац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366821"/>
            <a:ext cx="307238" cy="307238"/>
          </a:xfrm>
          <a:prstGeom prst="rect">
            <a:avLst/>
          </a:prstGeom>
        </p:spPr>
      </p:pic>
      <p:sp>
        <p:nvSpPr>
          <p:cNvPr id="16" name="Сенсибилизация title"/>
          <p:cNvSpPr txBox="1"/>
          <p:nvPr/>
        </p:nvSpPr>
        <p:spPr>
          <a:xfrm>
            <a:off x="14173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Сенсибилизация</a:t>
            </a:r>
            <a:endParaRPr lang="en-US" sz="1600" dirty="0"/>
          </a:p>
        </p:txBody>
      </p:sp>
      <p:sp>
        <p:nvSpPr>
          <p:cNvPr id="17" name="Сенсибилизация text"/>
          <p:cNvSpPr txBox="1"/>
          <p:nvPr/>
        </p:nvSpPr>
        <p:spPr>
          <a:xfrm>
            <a:off x="1417320" y="35935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Повышение чувствительности под влиянием упражнений или других органов чувств</a:t>
            </a:r>
            <a:endParaRPr lang="en-US" sz="1400" dirty="0"/>
          </a:p>
        </p:txBody>
      </p:sp>
      <p:sp>
        <p:nvSpPr>
          <p:cNvPr id="18" name="Синестезия card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Синестезия circle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Синестезия icon" descr="Синестези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366821"/>
            <a:ext cx="307238" cy="307238"/>
          </a:xfrm>
          <a:prstGeom prst="rect">
            <a:avLst/>
          </a:prstGeom>
        </p:spPr>
      </p:pic>
      <p:sp>
        <p:nvSpPr>
          <p:cNvPr id="21" name="Синестезия title"/>
          <p:cNvSpPr txBox="1"/>
          <p:nvPr/>
        </p:nvSpPr>
        <p:spPr>
          <a:xfrm>
            <a:off x="56235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Синестезия</a:t>
            </a:r>
            <a:endParaRPr lang="en-US" sz="1600" dirty="0"/>
          </a:p>
        </p:txBody>
      </p:sp>
      <p:sp>
        <p:nvSpPr>
          <p:cNvPr id="22" name="Синестезия text"/>
          <p:cNvSpPr txBox="1"/>
          <p:nvPr/>
        </p:nvSpPr>
        <p:spPr>
          <a:xfrm>
            <a:off x="5623560" y="35935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Ощущение одного вида вызывает ощущение другого — например, «цветной слух»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Норма и патология ощущений</a:t>
            </a:r>
            <a:endParaRPr lang="en-US" sz="3200" dirty="0"/>
          </a:p>
        </p:txBody>
      </p:sp>
      <p:sp>
        <p:nvSpPr>
          <p:cNvPr id="3" name="Норма label"/>
          <p:cNvSpPr txBox="1"/>
          <p:nvPr/>
        </p:nvSpPr>
        <p:spPr>
          <a:xfrm>
            <a:off x="457200" y="1097280"/>
            <a:ext cx="40233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Норма</a:t>
            </a:r>
            <a:endParaRPr lang="en-US" sz="1400" dirty="0"/>
          </a:p>
        </p:txBody>
      </p:sp>
      <p:pic>
        <p:nvPicPr>
          <p:cNvPr id="4" name="Норма photo" descr="Нор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023360" cy="1371600"/>
          </a:xfrm>
          <a:prstGeom prst="rect">
            <a:avLst/>
          </a:prstGeom>
        </p:spPr>
      </p:pic>
      <p:sp>
        <p:nvSpPr>
          <p:cNvPr id="5" name="Норма item 1 circle"/>
          <p:cNvSpPr/>
          <p:nvPr/>
        </p:nvSpPr>
        <p:spPr>
          <a:xfrm>
            <a:off x="457200" y="3136392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Норма item 1 icon" descr="Норма item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7" y="3192719"/>
            <a:ext cx="143378" cy="143378"/>
          </a:xfrm>
          <a:prstGeom prst="rect">
            <a:avLst/>
          </a:prstGeom>
        </p:spPr>
      </p:pic>
      <p:sp>
        <p:nvSpPr>
          <p:cNvPr id="7" name="Норма item 1 text"/>
          <p:cNvSpPr txBox="1"/>
          <p:nvPr/>
        </p:nvSpPr>
        <p:spPr>
          <a:xfrm>
            <a:off x="841248" y="3108960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Чёткое зрение и хороший слух</a:t>
            </a:r>
            <a:endParaRPr lang="en-US" sz="1400" dirty="0"/>
          </a:p>
        </p:txBody>
      </p:sp>
      <p:sp>
        <p:nvSpPr>
          <p:cNvPr id="8" name="Норма item 2 circle"/>
          <p:cNvSpPr/>
          <p:nvPr/>
        </p:nvSpPr>
        <p:spPr>
          <a:xfrm>
            <a:off x="457200" y="3538728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Норма item 2 icon" descr="Норма item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27" y="3595055"/>
            <a:ext cx="143378" cy="143378"/>
          </a:xfrm>
          <a:prstGeom prst="rect">
            <a:avLst/>
          </a:prstGeom>
        </p:spPr>
      </p:pic>
      <p:sp>
        <p:nvSpPr>
          <p:cNvPr id="10" name="Норма item 2 text"/>
          <p:cNvSpPr txBox="1"/>
          <p:nvPr/>
        </p:nvSpPr>
        <p:spPr>
          <a:xfrm>
            <a:off x="841248" y="351129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Различение запахов и вкусов</a:t>
            </a:r>
            <a:endParaRPr lang="en-US" sz="1400" dirty="0"/>
          </a:p>
        </p:txBody>
      </p:sp>
      <p:sp>
        <p:nvSpPr>
          <p:cNvPr id="11" name="Норма item 3 circle"/>
          <p:cNvSpPr/>
          <p:nvPr/>
        </p:nvSpPr>
        <p:spPr>
          <a:xfrm>
            <a:off x="457200" y="394106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Норма item 3 icon" descr="Норма item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" y="3997391"/>
            <a:ext cx="143378" cy="143378"/>
          </a:xfrm>
          <a:prstGeom prst="rect">
            <a:avLst/>
          </a:prstGeom>
        </p:spPr>
      </p:pic>
      <p:sp>
        <p:nvSpPr>
          <p:cNvPr id="13" name="Норма item 3 text"/>
          <p:cNvSpPr txBox="1"/>
          <p:nvPr/>
        </p:nvSpPr>
        <p:spPr>
          <a:xfrm>
            <a:off x="841248" y="391363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Нормальная чувствительность кожи</a:t>
            </a:r>
            <a:endParaRPr lang="en-US" sz="1400" dirty="0"/>
          </a:p>
        </p:txBody>
      </p:sp>
      <p:sp>
        <p:nvSpPr>
          <p:cNvPr id="14" name="Норма item 4 circle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Норма item 4 icon" descr="Норма item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7" y="4399727"/>
            <a:ext cx="143378" cy="143378"/>
          </a:xfrm>
          <a:prstGeom prst="rect">
            <a:avLst/>
          </a:prstGeom>
        </p:spPr>
      </p:pic>
      <p:sp>
        <p:nvSpPr>
          <p:cNvPr id="16" name="Норма item 4 text"/>
          <p:cNvSpPr txBox="1"/>
          <p:nvPr/>
        </p:nvSpPr>
        <p:spPr>
          <a:xfrm>
            <a:off x="841248" y="431596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Полноценное восприятие мира</a:t>
            </a:r>
            <a:endParaRPr lang="en-US" sz="1400" dirty="0"/>
          </a:p>
        </p:txBody>
      </p:sp>
      <p:sp>
        <p:nvSpPr>
          <p:cNvPr id="17" name="Патология label"/>
          <p:cNvSpPr txBox="1"/>
          <p:nvPr/>
        </p:nvSpPr>
        <p:spPr>
          <a:xfrm>
            <a:off x="4663440" y="1097280"/>
            <a:ext cx="4023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Патология</a:t>
            </a:r>
            <a:endParaRPr lang="en-US" sz="1400" dirty="0"/>
          </a:p>
        </p:txBody>
      </p:sp>
      <p:pic>
        <p:nvPicPr>
          <p:cNvPr id="18" name="Патология photo" descr="Патология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554480"/>
            <a:ext cx="4023360" cy="1371600"/>
          </a:xfrm>
          <a:prstGeom prst="rect">
            <a:avLst/>
          </a:prstGeom>
        </p:spPr>
      </p:pic>
      <p:sp>
        <p:nvSpPr>
          <p:cNvPr id="19" name="Патология item 1 circle"/>
          <p:cNvSpPr/>
          <p:nvPr/>
        </p:nvSpPr>
        <p:spPr>
          <a:xfrm>
            <a:off x="4663440" y="31363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Патология item 1 icon" descr="Патология item 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767" y="3192719"/>
            <a:ext cx="143378" cy="143378"/>
          </a:xfrm>
          <a:prstGeom prst="rect">
            <a:avLst/>
          </a:prstGeom>
        </p:spPr>
      </p:pic>
      <p:sp>
        <p:nvSpPr>
          <p:cNvPr id="21" name="Патология item 1 text"/>
          <p:cNvSpPr txBox="1"/>
          <p:nvPr/>
        </p:nvSpPr>
        <p:spPr>
          <a:xfrm>
            <a:off x="5047488" y="3108960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Снижение зрения или слуха</a:t>
            </a:r>
            <a:endParaRPr lang="en-US" sz="1400" dirty="0"/>
          </a:p>
        </p:txBody>
      </p:sp>
      <p:sp>
        <p:nvSpPr>
          <p:cNvPr id="22" name="Патология item 2 circle"/>
          <p:cNvSpPr/>
          <p:nvPr/>
        </p:nvSpPr>
        <p:spPr>
          <a:xfrm>
            <a:off x="4663440" y="353872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Патология item 2 icon" descr="Патология item 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9767" y="3595055"/>
            <a:ext cx="143378" cy="143378"/>
          </a:xfrm>
          <a:prstGeom prst="rect">
            <a:avLst/>
          </a:prstGeom>
        </p:spPr>
      </p:pic>
      <p:sp>
        <p:nvSpPr>
          <p:cNvPr id="24" name="Патология item 2 text"/>
          <p:cNvSpPr txBox="1"/>
          <p:nvPr/>
        </p:nvSpPr>
        <p:spPr>
          <a:xfrm>
            <a:off x="5047488" y="351129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Нарушение обоняния и вкуса</a:t>
            </a:r>
            <a:endParaRPr lang="en-US" sz="1400" dirty="0"/>
          </a:p>
        </p:txBody>
      </p:sp>
      <p:sp>
        <p:nvSpPr>
          <p:cNvPr id="25" name="Патология item 3 circle"/>
          <p:cNvSpPr/>
          <p:nvPr/>
        </p:nvSpPr>
        <p:spPr>
          <a:xfrm>
            <a:off x="4663440" y="39410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Патология item 3 icon" descr="Патология item 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9767" y="3997391"/>
            <a:ext cx="143378" cy="143378"/>
          </a:xfrm>
          <a:prstGeom prst="rect">
            <a:avLst/>
          </a:prstGeom>
        </p:spPr>
      </p:pic>
      <p:sp>
        <p:nvSpPr>
          <p:cNvPr id="27" name="Патология item 3 text"/>
          <p:cNvSpPr txBox="1"/>
          <p:nvPr/>
        </p:nvSpPr>
        <p:spPr>
          <a:xfrm>
            <a:off x="5047488" y="391363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Нарушение чувствительности кожи</a:t>
            </a:r>
            <a:endParaRPr lang="en-US" sz="1400" dirty="0"/>
          </a:p>
        </p:txBody>
      </p:sp>
      <p:sp>
        <p:nvSpPr>
          <p:cNvPr id="28" name="Патология item 4 circle"/>
          <p:cNvSpPr/>
          <p:nvPr/>
        </p:nvSpPr>
        <p:spPr>
          <a:xfrm>
            <a:off x="4663440" y="434340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Патология item 4 icon" descr="Патология item 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9767" y="4399727"/>
            <a:ext cx="143378" cy="143378"/>
          </a:xfrm>
          <a:prstGeom prst="rect">
            <a:avLst/>
          </a:prstGeom>
        </p:spPr>
      </p:pic>
      <p:sp>
        <p:nvSpPr>
          <p:cNvPr id="30" name="Патология item 4 text"/>
          <p:cNvSpPr txBox="1"/>
          <p:nvPr/>
        </p:nvSpPr>
        <p:spPr>
          <a:xfrm>
            <a:off x="5047488" y="431596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Ложные ощущения (галлюцинации)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Выводы</a:t>
            </a:r>
            <a:endParaRPr lang="en-US" sz="3400" dirty="0"/>
          </a:p>
        </p:txBody>
      </p:sp>
      <p:sp>
        <p:nvSpPr>
          <p:cNvPr id="3" name="Takeaway 1 card"/>
          <p:cNvSpPr/>
          <p:nvPr/>
        </p:nvSpPr>
        <p:spPr>
          <a:xfrm>
            <a:off x="457200" y="123444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Takeaway 1 circle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akeaway 1 icon" descr="Takeaway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613916"/>
            <a:ext cx="384048" cy="384048"/>
          </a:xfrm>
          <a:prstGeom prst="rect">
            <a:avLst/>
          </a:prstGeom>
        </p:spPr>
      </p:pic>
      <p:sp>
        <p:nvSpPr>
          <p:cNvPr id="6" name="Takeaway 1 text"/>
          <p:cNvSpPr txBox="1"/>
          <p:nvPr/>
        </p:nvSpPr>
        <p:spPr>
          <a:xfrm>
            <a:off x="731520" y="23317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Ощущения — основа познания: из них строятся восприятие, память и мышление</a:t>
            </a:r>
            <a:endParaRPr lang="en-US" sz="1500" dirty="0"/>
          </a:p>
        </p:txBody>
      </p:sp>
      <p:sp>
        <p:nvSpPr>
          <p:cNvPr id="7" name="Takeaway 2 card"/>
          <p:cNvSpPr/>
          <p:nvPr/>
        </p:nvSpPr>
        <p:spPr>
          <a:xfrm>
            <a:off x="3291840" y="123444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Takeaway 2 circle"/>
          <p:cNvSpPr/>
          <p:nvPr/>
        </p:nvSpPr>
        <p:spPr>
          <a:xfrm>
            <a:off x="356616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Takeaway 2 icon" descr="Takeaway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613916"/>
            <a:ext cx="384048" cy="384048"/>
          </a:xfrm>
          <a:prstGeom prst="rect">
            <a:avLst/>
          </a:prstGeom>
        </p:spPr>
      </p:pic>
      <p:sp>
        <p:nvSpPr>
          <p:cNvPr id="10" name="Takeaway 2 text"/>
          <p:cNvSpPr txBox="1"/>
          <p:nvPr/>
        </p:nvSpPr>
        <p:spPr>
          <a:xfrm>
            <a:off x="3566160" y="23317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Органы чувств работают вместе и дают целостную картину мира</a:t>
            </a:r>
            <a:endParaRPr lang="en-US" sz="1500" dirty="0"/>
          </a:p>
        </p:txBody>
      </p:sp>
      <p:sp>
        <p:nvSpPr>
          <p:cNvPr id="11" name="Takeaway 3 card"/>
          <p:cNvSpPr/>
          <p:nvPr/>
        </p:nvSpPr>
        <p:spPr>
          <a:xfrm>
            <a:off x="6126480" y="123444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2" name="Takeaway 3 circle"/>
          <p:cNvSpPr/>
          <p:nvPr/>
        </p:nvSpPr>
        <p:spPr>
          <a:xfrm>
            <a:off x="640080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Takeaway 3 icon" descr="Takeaway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613916"/>
            <a:ext cx="384048" cy="384048"/>
          </a:xfrm>
          <a:prstGeom prst="rect">
            <a:avLst/>
          </a:prstGeom>
        </p:spPr>
      </p:pic>
      <p:sp>
        <p:nvSpPr>
          <p:cNvPr id="14" name="Takeaway 3 text"/>
          <p:cNvSpPr txBox="1"/>
          <p:nvPr/>
        </p:nvSpPr>
        <p:spPr>
          <a:xfrm>
            <a:off x="6400800" y="23317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Нарушения ощущений снижают качество жизни — важно беречь здоровье и вовремя обращаться к врачу</a:t>
            </a:r>
            <a:endParaRPr lang="en-US" sz="1500" dirty="0"/>
          </a:p>
        </p:txBody>
      </p:sp>
      <p:sp>
        <p:nvSpPr>
          <p:cNvPr id="15" name="Thanks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ses">
  <a:themeElements>
    <a:clrScheme name="Senses">
      <a:dk1>
        <a:srgbClr val="1F1A2E"/>
      </a:dk1>
      <a:lt1>
        <a:srgbClr val="FFFFFF"/>
      </a:lt1>
      <a:dk2>
        <a:srgbClr val="2D1B4E"/>
      </a:dk2>
      <a:lt2>
        <a:srgbClr val="F3EFFA"/>
      </a:lt2>
      <a:accent1>
        <a:srgbClr val="F26B5B"/>
      </a:accent1>
      <a:accent2>
        <a:srgbClr val="2A9D8F"/>
      </a:accent2>
      <a:accent3>
        <a:srgbClr val="7B5EA7"/>
      </a:accent3>
      <a:accent4>
        <a:srgbClr val="F4A259"/>
      </a:accent4>
      <a:accent5>
        <a:srgbClr val="5B8DEF"/>
      </a:accent5>
      <a:accent6>
        <a:srgbClr val="E5DEF3"/>
      </a:accent6>
      <a:hlink>
        <a:srgbClr val="7B5EA7"/>
      </a:hlink>
      <a:folHlink>
        <a:srgbClr val="2D1B4E"/>
      </a:folHlink>
    </a:clrScheme>
    <a:fontScheme name="Sens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Ощущения</dc:title>
  <dc:subject>Психология: ощущения</dc:subject>
  <dc:creator>PptxGenJS</dc:creator>
  <cp:lastModifiedBy>PptxGenJS</cp:lastModifiedBy>
  <cp:revision>1</cp:revision>
  <dcterms:created xsi:type="dcterms:W3CDTF">2026-10-04T20:53:01Z</dcterms:created>
  <dcterms:modified xsi:type="dcterms:W3CDTF">2026-10-04T20:53:01Z</dcterms:modified>
</cp:coreProperties>
</file>