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Введение" id="{a1de4dc6-7e63-45ee-cd97-232a63ea8454}">
          <p14:sldIdLst>
            <p14:sldId id="256"/>
            <p14:sldId id="257"/>
          </p14:sldIdLst>
        </p14:section>
        <p14:section name="Механизм и виды" id="{32db9a37-7840-947a-56dc-96c7f4a5e0cd}">
          <p14:sldIdLst>
            <p14:sldId id="258"/>
            <p14:sldId id="259"/>
          </p14:sldIdLst>
        </p14:section>
        <p14:section name="Органы чувств" id="{b931de6b-7020-efc2-fc58-455d67b9a164}">
          <p14:sldIdLst>
            <p14:sldId id="260"/>
            <p14:sldId id="261"/>
            <p14:sldId id="262"/>
            <p14:sldId id="263"/>
          </p14:sldIdLst>
        </p14:section>
        <p14:section name="Свойства и патология" id="{49426f62-16b3-1ba2-8439-48dac004956c}">
          <p14:sldIdLst>
            <p14:sldId id="264"/>
            <p14:sldId id="265"/>
          </p14:sldIdLst>
        </p14:section>
        <p14:section name="Выводы" id="{883c30fc-0e53-174b-c470-f5ac37fdcb6f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Тема презентации — ощущения. Мы разберём, что такое ощущения, как они возникают, какие бывают виды и свойства ощущений, и чем отличается работа органов чувств в норме и при патологии.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Ощущение — это начальная ступень познания. Через органы чувств мы получаем сведения о цвете, звуке, запахе, вкусе, температуре и других свойствах окружающего мира. На основе ощущений строятся более сложные процессы: восприятие, память, мышление.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Информация от органов чувств поступает по нервным путям в мозг, где формируется наше восприятие. Павлов назвал эту систему анализатором: рецептор, проводящие нервные пути и корковый отдел. Если повреждена любая из частей, ощущение нарушается.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 классификации Ч. Шеррингтона ощущения делят на три группы. Экстероцептивные — от рецепторов на поверхности тела, отражают внешний мир. Интероцептивные — от внутренних органов. Проприоцептивные — от мышц, сухожилий и вестибулярного аппарата, сообщают о положении тела.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Зрение — ведущий канал получения информации. В норме изображение чёткое и ясное. При нарушениях — близорукости, дальнозоркости, катаракте — картинка становится размытой, человеку труднее ориентироваться.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Слух позволяет воспринимать звуки, различать их громкость, высоту и направление. Звуковая волна проходит через слуховой проход, колеблет барабанную перепонку, слуховые косточки передают колебания в улитку, где расположены рецепторы. При тугоухости звук воспринимается тихо и нечётко.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Обоняние и вкус — химические чувства: они реагируют на молекулы веществ. Запахи сильно связаны с эмоциями и воспоминаниями. Язык различает пять базовых вкусов, а богатство «вкуса» блюда во многом создаёт именно обоняние.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Кожные ощущения включают тактильные (прикосновение, давление), температурные (тепло и холод) и болевые. Боль — важный защитный сигнал: она предупреждает об опасности и повреждении тканей.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Главные свойства ощущений: пороги чувствительности (абсолютный и разностный), адаптация — изменение чувствительности при длительном действии раздражителя, сенсибилизация — повышение чувствительности, например у музыкантов или дегустаторов, и синестезия — когда звук может вызывать ощущение цвета.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В норме ощущения помогают ориентироваться в мире, учиться и общаться — это полноценное восприятие и комфортная жизнь. При патологии возникают трудности в ориентации, снижается качество жизни, и нужна помощь специалиста. Отдельно выделяют ложные ощущения — галлюцинации.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Подведём итоги. Ощущения — фундамент психической жизни человека. Все органы чувств работают согласованно. Берегите зрение, слух и здоровье в целом. Спасибо за внимание!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371600"/>
            <a:ext cx="475488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800" b="1" dirty="0">
                <a:solidFill>
                  <a:schemeClr val="bg1"/>
                </a:solidFill>
              </a:defRPr>
            </a:lvl1pPr>
          </a:lstStyle>
          <a:p>
            <a:pPr algn="l" indent="0" marL="0">
              <a:buNone/>
            </a:pPr>
            <a:endParaRPr lang="en-US" sz="48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97480"/>
            <a:ext cx="45720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800" dirty="0">
                <a:solidFill>
                  <a:schemeClr val="accent6"/>
                </a:solidFill>
              </a:defRPr>
            </a:lvl1pPr>
          </a:lstStyle>
          <a:p>
            <a:pPr algn="l"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END_DARK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400" b="1" dirty="0">
                <a:solidFill>
                  <a:schemeClr val="bg1"/>
                </a:solidFill>
              </a:defRPr>
            </a:lvl1pPr>
          </a:lstStyle>
          <a:p>
            <a:pPr indent="0" marL="0">
              <a:buNone/>
            </a:pPr>
            <a:endParaRPr lang="en-US" sz="3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3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slideLayout" Target="../slideLayouts/slideLayout3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png"/><Relationship Id="rId4" Type="http://schemas.openxmlformats.org/officeDocument/2006/relationships/image" Target="../media/image-9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image" Target="../media/image-10-5.png"/><Relationship Id="rId6" Type="http://schemas.openxmlformats.org/officeDocument/2006/relationships/image" Target="../media/image-10-6.png"/><Relationship Id="rId7" Type="http://schemas.openxmlformats.org/officeDocument/2006/relationships/image" Target="../media/image-10-7.png"/><Relationship Id="rId8" Type="http://schemas.openxmlformats.org/officeDocument/2006/relationships/image" Target="../media/image-10-8.png"/><Relationship Id="rId9" Type="http://schemas.openxmlformats.org/officeDocument/2006/relationships/image" Target="../media/image-10-9.png"/><Relationship Id="rId10" Type="http://schemas.openxmlformats.org/officeDocument/2006/relationships/image" Target="../media/image-10-10.png"/><Relationship Id="rId11" Type="http://schemas.openxmlformats.org/officeDocument/2006/relationships/slideLayout" Target="../slideLayouts/slideLayout3.xml"/><Relationship Id="rId1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icker"/>
          <p:cNvSpPr txBox="1"/>
          <p:nvPr/>
        </p:nvSpPr>
        <p:spPr>
          <a:xfrm>
            <a:off x="548640" y="96012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chemeClr val="accent1"/>
                </a:solidFill>
              </a:rPr>
              <a:t>ПРЕЗЕНТАЦИЯ ПО ПСИХОЛОГИИ</a:t>
            </a:r>
            <a:endParaRPr lang="en-US" sz="1200" dirty="0"/>
          </a:p>
        </p:txBody>
      </p:sp>
      <p:sp>
        <p:nvSpPr>
          <p:cNvPr id="3" name="Text 0"/>
          <p:cNvSpPr/>
          <p:nvPr>
            <p:ph idx="100" type="title" hasCustomPrompt="1"/>
          </p:nvPr>
        </p:nvSpPr>
        <p:spPr>
          <a:xfrm>
            <a:off x="548640" y="1371600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l" indent="0" marL="0">
              <a:buNone/>
            </a:pPr>
            <a:r>
              <a:rPr lang="en-US" sz="4800" b="1" dirty="0">
                <a:solidFill>
                  <a:schemeClr val="bg1"/>
                </a:solidFill>
              </a:rPr>
              <a:t>Ощущения</a:t>
            </a:r>
            <a:endParaRPr lang="en-US" sz="4800" dirty="0"/>
          </a:p>
        </p:txBody>
      </p:sp>
      <p:sp>
        <p:nvSpPr>
          <p:cNvPr id="4" name="Text 0"/>
          <p:cNvSpPr/>
          <p:nvPr>
            <p:ph idx="101" type="body" hasCustomPrompt="1"/>
          </p:nvPr>
        </p:nvSpPr>
        <p:spPr>
          <a:xfrm>
            <a:off x="548640" y="2697480"/>
            <a:ext cx="45720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chemeClr val="accent6"/>
                </a:solidFill>
              </a:rPr>
              <a:t>Как мы познаём мир через органы чувств</a:t>
            </a:r>
            <a:endParaRPr lang="en-US" sz="1800" dirty="0"/>
          </a:p>
        </p:txBody>
      </p:sp>
      <p:sp>
        <p:nvSpPr>
          <p:cNvPr id="5" name="Brain frame"/>
          <p:cNvSpPr/>
          <p:nvPr/>
        </p:nvSpPr>
        <p:spPr>
          <a:xfrm>
            <a:off x="5532120" y="594360"/>
            <a:ext cx="3154680" cy="3931920"/>
          </a:xfrm>
          <a:prstGeom prst="roundRect">
            <a:avLst>
              <a:gd name="adj" fmla="val 5797"/>
            </a:avLst>
          </a:prstGeom>
          <a:solidFill>
            <a:srgbClr val="F7F6F3"/>
          </a:solidFill>
          <a:ln/>
        </p:spPr>
      </p:sp>
      <p:pic>
        <p:nvPicPr>
          <p:cNvPr id="6" name="Brain diagram" descr="Органы чувств передают информацию в мозг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23560" y="1234440"/>
            <a:ext cx="2971800" cy="266090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Что такое ощущение</a:t>
            </a:r>
            <a:endParaRPr lang="en-US" sz="3200" dirty="0"/>
          </a:p>
        </p:txBody>
      </p:sp>
      <p:sp>
        <p:nvSpPr>
          <p:cNvPr id="3" name="Definition card"/>
          <p:cNvSpPr/>
          <p:nvPr/>
        </p:nvSpPr>
        <p:spPr>
          <a:xfrm>
            <a:off x="457200" y="1188720"/>
            <a:ext cx="4846320" cy="1600200"/>
          </a:xfrm>
          <a:prstGeom prst="roundRect">
            <a:avLst>
              <a:gd name="adj" fmla="val 6857"/>
            </a:avLst>
          </a:prstGeom>
          <a:solidFill>
            <a:schemeClr val="bg2"/>
          </a:solidFill>
          <a:ln/>
        </p:spPr>
      </p:sp>
      <p:sp>
        <p:nvSpPr>
          <p:cNvPr id="4" name="Definition"/>
          <p:cNvSpPr txBox="1"/>
          <p:nvPr/>
        </p:nvSpPr>
        <p:spPr>
          <a:xfrm>
            <a:off x="685800" y="1325880"/>
            <a:ext cx="43891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accent1"/>
                </a:solidFill>
              </a:rPr>
              <a:t>Ощущение</a:t>
            </a:r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 — простейший психический процесс отражения отдельных свойств предметов и явлений при их непосредственном воздействии на органы чувств.</a:t>
            </a:r>
            <a:endParaRPr lang="en-US" sz="1600" dirty="0"/>
          </a:p>
        </p:txBody>
      </p:sp>
      <p:sp>
        <p:nvSpPr>
          <p:cNvPr id="5" name="Senses label"/>
          <p:cNvSpPr txBox="1"/>
          <p:nvPr/>
        </p:nvSpPr>
        <p:spPr>
          <a:xfrm>
            <a:off x="457200" y="3017520"/>
            <a:ext cx="4846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Пять основных органов чувств</a:t>
            </a:r>
            <a:endParaRPr lang="en-US" sz="1400" dirty="0"/>
          </a:p>
        </p:txBody>
      </p:sp>
      <p:sp>
        <p:nvSpPr>
          <p:cNvPr id="6" name="Зрение circle"/>
          <p:cNvSpPr/>
          <p:nvPr/>
        </p:nvSpPr>
        <p:spPr>
          <a:xfrm>
            <a:off x="612648" y="3474720"/>
            <a:ext cx="640080" cy="64008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7" name="Зрение icon" descr="Зрени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3466" y="3615538"/>
            <a:ext cx="358445" cy="358445"/>
          </a:xfrm>
          <a:prstGeom prst="rect">
            <a:avLst/>
          </a:prstGeom>
        </p:spPr>
      </p:pic>
      <p:sp>
        <p:nvSpPr>
          <p:cNvPr id="8" name="Зрение label"/>
          <p:cNvSpPr txBox="1"/>
          <p:nvPr/>
        </p:nvSpPr>
        <p:spPr>
          <a:xfrm>
            <a:off x="411480" y="420624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Зрение</a:t>
            </a:r>
            <a:endParaRPr lang="en-US" sz="1200" dirty="0"/>
          </a:p>
        </p:txBody>
      </p:sp>
      <p:sp>
        <p:nvSpPr>
          <p:cNvPr id="9" name="Слух circle"/>
          <p:cNvSpPr/>
          <p:nvPr/>
        </p:nvSpPr>
        <p:spPr>
          <a:xfrm>
            <a:off x="1600200" y="3474720"/>
            <a:ext cx="640080" cy="64008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Слух icon" descr="Слух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1018" y="3615538"/>
            <a:ext cx="358445" cy="358445"/>
          </a:xfrm>
          <a:prstGeom prst="rect">
            <a:avLst/>
          </a:prstGeom>
        </p:spPr>
      </p:pic>
      <p:sp>
        <p:nvSpPr>
          <p:cNvPr id="11" name="Слух label"/>
          <p:cNvSpPr txBox="1"/>
          <p:nvPr/>
        </p:nvSpPr>
        <p:spPr>
          <a:xfrm>
            <a:off x="1399032" y="420624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Слух</a:t>
            </a:r>
            <a:endParaRPr lang="en-US" sz="1200" dirty="0"/>
          </a:p>
        </p:txBody>
      </p:sp>
      <p:sp>
        <p:nvSpPr>
          <p:cNvPr id="12" name="Обоняние circle"/>
          <p:cNvSpPr/>
          <p:nvPr/>
        </p:nvSpPr>
        <p:spPr>
          <a:xfrm>
            <a:off x="2587752" y="34747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13" name="Обоняние icon" descr="Обоняние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28570" y="3615538"/>
            <a:ext cx="358445" cy="358445"/>
          </a:xfrm>
          <a:prstGeom prst="rect">
            <a:avLst/>
          </a:prstGeom>
        </p:spPr>
      </p:pic>
      <p:sp>
        <p:nvSpPr>
          <p:cNvPr id="14" name="Обоняние label"/>
          <p:cNvSpPr txBox="1"/>
          <p:nvPr/>
        </p:nvSpPr>
        <p:spPr>
          <a:xfrm>
            <a:off x="2386584" y="420624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Обоняние</a:t>
            </a:r>
            <a:endParaRPr lang="en-US" sz="1200" dirty="0"/>
          </a:p>
        </p:txBody>
      </p:sp>
      <p:sp>
        <p:nvSpPr>
          <p:cNvPr id="15" name="Вкус circle"/>
          <p:cNvSpPr/>
          <p:nvPr/>
        </p:nvSpPr>
        <p:spPr>
          <a:xfrm>
            <a:off x="3575304" y="34747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6" name="Вкус icon" descr="Вкус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16122" y="3615538"/>
            <a:ext cx="358445" cy="358445"/>
          </a:xfrm>
          <a:prstGeom prst="rect">
            <a:avLst/>
          </a:prstGeom>
        </p:spPr>
      </p:pic>
      <p:sp>
        <p:nvSpPr>
          <p:cNvPr id="17" name="Вкус label"/>
          <p:cNvSpPr txBox="1"/>
          <p:nvPr/>
        </p:nvSpPr>
        <p:spPr>
          <a:xfrm>
            <a:off x="3374136" y="420624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Вкус</a:t>
            </a:r>
            <a:endParaRPr lang="en-US" sz="1200" dirty="0"/>
          </a:p>
        </p:txBody>
      </p:sp>
      <p:sp>
        <p:nvSpPr>
          <p:cNvPr id="18" name="Осязание circle"/>
          <p:cNvSpPr/>
          <p:nvPr/>
        </p:nvSpPr>
        <p:spPr>
          <a:xfrm>
            <a:off x="4562856" y="3474720"/>
            <a:ext cx="640080" cy="640080"/>
          </a:xfrm>
          <a:prstGeom prst="ellipse">
            <a:avLst/>
          </a:prstGeom>
          <a:solidFill>
            <a:schemeClr val="accent5"/>
          </a:solidFill>
          <a:ln/>
        </p:spPr>
      </p:sp>
      <p:pic>
        <p:nvPicPr>
          <p:cNvPr id="19" name="Осязание icon" descr="Осязание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03674" y="3615538"/>
            <a:ext cx="358445" cy="358445"/>
          </a:xfrm>
          <a:prstGeom prst="rect">
            <a:avLst/>
          </a:prstGeom>
        </p:spPr>
      </p:pic>
      <p:sp>
        <p:nvSpPr>
          <p:cNvPr id="20" name="Осязание label"/>
          <p:cNvSpPr txBox="1"/>
          <p:nvPr/>
        </p:nvSpPr>
        <p:spPr>
          <a:xfrm>
            <a:off x="4361688" y="4206240"/>
            <a:ext cx="104241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Осязание</a:t>
            </a:r>
            <a:endParaRPr lang="en-US" sz="1200" dirty="0"/>
          </a:p>
        </p:txBody>
      </p:sp>
      <p:pic>
        <p:nvPicPr>
          <p:cNvPr id="21" name="Photo world" descr="Человек смотрит на город и горы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669280" y="1188720"/>
            <a:ext cx="3017520" cy="3291840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Как работают ощущения</a:t>
            </a:r>
            <a:endParaRPr lang="en-US" sz="3200" dirty="0"/>
          </a:p>
        </p:txBody>
      </p:sp>
      <p:pic>
        <p:nvPicPr>
          <p:cNvPr id="3" name="Brain diagram" descr="Нервные пути от органов чувств к мозгу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097280"/>
            <a:ext cx="4114800" cy="3685032"/>
          </a:xfrm>
          <a:prstGeom prst="rect">
            <a:avLst/>
          </a:prstGeom>
        </p:spPr>
      </p:pic>
      <p:sp>
        <p:nvSpPr>
          <p:cNvPr id="4" name="Analyzer intro"/>
          <p:cNvSpPr txBox="1"/>
          <p:nvPr/>
        </p:nvSpPr>
        <p:spPr>
          <a:xfrm>
            <a:off x="4937760" y="10972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chemeClr val="accent3"/>
                </a:solidFill>
              </a:rPr>
              <a:t>Анализатор (по И. П. Павлову) состоит из трёх частей:</a:t>
            </a:r>
            <a:endParaRPr lang="en-US" sz="1400" dirty="0"/>
          </a:p>
        </p:txBody>
      </p:sp>
      <p:sp>
        <p:nvSpPr>
          <p:cNvPr id="5" name="Step 1 number"/>
          <p:cNvSpPr txBox="1"/>
          <p:nvPr/>
        </p:nvSpPr>
        <p:spPr>
          <a:xfrm>
            <a:off x="4937760" y="1691640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1</a:t>
            </a:r>
            <a:endParaRPr lang="en-US" sz="1800" dirty="0"/>
          </a:p>
        </p:txBody>
      </p:sp>
      <p:sp>
        <p:nvSpPr>
          <p:cNvPr id="6" name="Step 1 title"/>
          <p:cNvSpPr txBox="1"/>
          <p:nvPr/>
        </p:nvSpPr>
        <p:spPr>
          <a:xfrm>
            <a:off x="5623560" y="1655064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Рецептор</a:t>
            </a:r>
            <a:endParaRPr lang="en-US" sz="1600" dirty="0"/>
          </a:p>
        </p:txBody>
      </p:sp>
      <p:sp>
        <p:nvSpPr>
          <p:cNvPr id="7" name="Step 1 text"/>
          <p:cNvSpPr txBox="1"/>
          <p:nvPr/>
        </p:nvSpPr>
        <p:spPr>
          <a:xfrm>
            <a:off x="5623560" y="1965960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Воспринимает раздражитель и превращает его энергию в нервный импульс</a:t>
            </a:r>
            <a:endParaRPr lang="en-US" sz="1400" dirty="0"/>
          </a:p>
        </p:txBody>
      </p:sp>
      <p:sp>
        <p:nvSpPr>
          <p:cNvPr id="8" name="Step 2 number"/>
          <p:cNvSpPr txBox="1"/>
          <p:nvPr/>
        </p:nvSpPr>
        <p:spPr>
          <a:xfrm>
            <a:off x="4937760" y="2715768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2</a:t>
            </a:r>
            <a:endParaRPr lang="en-US" sz="1800" dirty="0"/>
          </a:p>
        </p:txBody>
      </p:sp>
      <p:sp>
        <p:nvSpPr>
          <p:cNvPr id="9" name="Step 2 title"/>
          <p:cNvSpPr txBox="1"/>
          <p:nvPr/>
        </p:nvSpPr>
        <p:spPr>
          <a:xfrm>
            <a:off x="5623560" y="2679192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Проводящие пути</a:t>
            </a:r>
            <a:endParaRPr lang="en-US" sz="1600" dirty="0"/>
          </a:p>
        </p:txBody>
      </p:sp>
      <p:sp>
        <p:nvSpPr>
          <p:cNvPr id="10" name="Step 2 text"/>
          <p:cNvSpPr txBox="1"/>
          <p:nvPr/>
        </p:nvSpPr>
        <p:spPr>
          <a:xfrm>
            <a:off x="5623560" y="2990088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Передают нервный импульс от органа чувств в мозг</a:t>
            </a:r>
            <a:endParaRPr lang="en-US" sz="1400" dirty="0"/>
          </a:p>
        </p:txBody>
      </p:sp>
      <p:sp>
        <p:nvSpPr>
          <p:cNvPr id="11" name="Step 3 number"/>
          <p:cNvSpPr txBox="1"/>
          <p:nvPr/>
        </p:nvSpPr>
        <p:spPr>
          <a:xfrm>
            <a:off x="4937760" y="3739896"/>
            <a:ext cx="502920" cy="502920"/>
          </a:xfrm>
          <a:prstGeom prst="ellipse">
            <a:avLst/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3</a:t>
            </a:r>
            <a:endParaRPr lang="en-US" sz="1800" dirty="0"/>
          </a:p>
        </p:txBody>
      </p:sp>
      <p:sp>
        <p:nvSpPr>
          <p:cNvPr id="12" name="Step 3 title"/>
          <p:cNvSpPr txBox="1"/>
          <p:nvPr/>
        </p:nvSpPr>
        <p:spPr>
          <a:xfrm>
            <a:off x="5623560" y="3703320"/>
            <a:ext cx="30632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Корковый отдел</a:t>
            </a:r>
            <a:endParaRPr lang="en-US" sz="1600" dirty="0"/>
          </a:p>
        </p:txBody>
      </p:sp>
      <p:sp>
        <p:nvSpPr>
          <p:cNvPr id="13" name="Step 3 text"/>
          <p:cNvSpPr txBox="1"/>
          <p:nvPr/>
        </p:nvSpPr>
        <p:spPr>
          <a:xfrm>
            <a:off x="5623560" y="4014216"/>
            <a:ext cx="3063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В коре головного мозга информация обрабатывается — возникает ощущение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Виды ощущений</a:t>
            </a:r>
            <a:endParaRPr lang="en-US" sz="3200" dirty="0"/>
          </a:p>
        </p:txBody>
      </p:sp>
      <p:sp>
        <p:nvSpPr>
          <p:cNvPr id="3" name="Экстероцептивные card"/>
          <p:cNvSpPr/>
          <p:nvPr/>
        </p:nvSpPr>
        <p:spPr>
          <a:xfrm>
            <a:off x="457200" y="1188720"/>
            <a:ext cx="2560320" cy="34290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4" name="Экстероцептивные circle"/>
          <p:cNvSpPr/>
          <p:nvPr/>
        </p:nvSpPr>
        <p:spPr>
          <a:xfrm>
            <a:off x="731520" y="1417320"/>
            <a:ext cx="731520" cy="73152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Экстероцептивные icon" descr="Экстероцептивны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2454" y="1578254"/>
            <a:ext cx="409651" cy="409651"/>
          </a:xfrm>
          <a:prstGeom prst="rect">
            <a:avLst/>
          </a:prstGeom>
        </p:spPr>
      </p:pic>
      <p:sp>
        <p:nvSpPr>
          <p:cNvPr id="6" name="Экстероцептивные title"/>
          <p:cNvSpPr txBox="1"/>
          <p:nvPr/>
        </p:nvSpPr>
        <p:spPr>
          <a:xfrm>
            <a:off x="73152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Экстероцептивные</a:t>
            </a:r>
            <a:endParaRPr lang="en-US" sz="1500" dirty="0"/>
          </a:p>
        </p:txBody>
      </p:sp>
      <p:sp>
        <p:nvSpPr>
          <p:cNvPr id="7" name="Экстероцептивные text"/>
          <p:cNvSpPr txBox="1"/>
          <p:nvPr/>
        </p:nvSpPr>
        <p:spPr>
          <a:xfrm>
            <a:off x="73152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Отражают свойства внешнего мира</a:t>
            </a:r>
            <a:endParaRPr lang="en-US" sz="1400" dirty="0"/>
          </a:p>
        </p:txBody>
      </p:sp>
      <p:sp>
        <p:nvSpPr>
          <p:cNvPr id="8" name="Экстероцептивные examples"/>
          <p:cNvSpPr txBox="1"/>
          <p:nvPr/>
        </p:nvSpPr>
        <p:spPr>
          <a:xfrm>
            <a:off x="731520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Примеры: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Зрение, слух, обоняние, вкус, осязание</a:t>
            </a:r>
            <a:endParaRPr lang="en-US" sz="1400" dirty="0"/>
          </a:p>
        </p:txBody>
      </p:sp>
      <p:sp>
        <p:nvSpPr>
          <p:cNvPr id="9" name="Интероцептивные card"/>
          <p:cNvSpPr/>
          <p:nvPr/>
        </p:nvSpPr>
        <p:spPr>
          <a:xfrm>
            <a:off x="3291840" y="1188720"/>
            <a:ext cx="2560320" cy="34290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0" name="Интероцептивные circle"/>
          <p:cNvSpPr/>
          <p:nvPr/>
        </p:nvSpPr>
        <p:spPr>
          <a:xfrm>
            <a:off x="3566160" y="1417320"/>
            <a:ext cx="731520" cy="73152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1" name="Интероцептивные icon" descr="Интероцептивные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27094" y="1578254"/>
            <a:ext cx="409651" cy="409651"/>
          </a:xfrm>
          <a:prstGeom prst="rect">
            <a:avLst/>
          </a:prstGeom>
        </p:spPr>
      </p:pic>
      <p:sp>
        <p:nvSpPr>
          <p:cNvPr id="12" name="Интероцептивные title"/>
          <p:cNvSpPr txBox="1"/>
          <p:nvPr/>
        </p:nvSpPr>
        <p:spPr>
          <a:xfrm>
            <a:off x="356616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Интероцептивные</a:t>
            </a:r>
            <a:endParaRPr lang="en-US" sz="1500" dirty="0"/>
          </a:p>
        </p:txBody>
      </p:sp>
      <p:sp>
        <p:nvSpPr>
          <p:cNvPr id="13" name="Интероцептивные text"/>
          <p:cNvSpPr txBox="1"/>
          <p:nvPr/>
        </p:nvSpPr>
        <p:spPr>
          <a:xfrm>
            <a:off x="356616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Сигнализируют о состоянии внутренних органов</a:t>
            </a:r>
            <a:endParaRPr lang="en-US" sz="1400" dirty="0"/>
          </a:p>
        </p:txBody>
      </p:sp>
      <p:sp>
        <p:nvSpPr>
          <p:cNvPr id="14" name="Интероцептивные examples"/>
          <p:cNvSpPr txBox="1"/>
          <p:nvPr/>
        </p:nvSpPr>
        <p:spPr>
          <a:xfrm>
            <a:off x="3566160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Примеры: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Голод, жажда, тошнота, внутренняя боль</a:t>
            </a:r>
            <a:endParaRPr lang="en-US" sz="1400" dirty="0"/>
          </a:p>
        </p:txBody>
      </p:sp>
      <p:sp>
        <p:nvSpPr>
          <p:cNvPr id="15" name="Проприоцептивные card"/>
          <p:cNvSpPr/>
          <p:nvPr/>
        </p:nvSpPr>
        <p:spPr>
          <a:xfrm>
            <a:off x="6126480" y="1188720"/>
            <a:ext cx="2560320" cy="34290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sp>
        <p:nvSpPr>
          <p:cNvPr id="16" name="Проприоцептивные circle"/>
          <p:cNvSpPr/>
          <p:nvPr/>
        </p:nvSpPr>
        <p:spPr>
          <a:xfrm>
            <a:off x="6400800" y="1417320"/>
            <a:ext cx="731520" cy="73152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7" name="Проприоцептивные icon" descr="Проприоцептивные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61734" y="1578254"/>
            <a:ext cx="409651" cy="409651"/>
          </a:xfrm>
          <a:prstGeom prst="rect">
            <a:avLst/>
          </a:prstGeom>
        </p:spPr>
      </p:pic>
      <p:sp>
        <p:nvSpPr>
          <p:cNvPr id="18" name="Проприоцептивные title"/>
          <p:cNvSpPr txBox="1"/>
          <p:nvPr/>
        </p:nvSpPr>
        <p:spPr>
          <a:xfrm>
            <a:off x="6400800" y="233172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Проприоцептивные</a:t>
            </a:r>
            <a:endParaRPr lang="en-US" sz="1500" dirty="0"/>
          </a:p>
        </p:txBody>
      </p:sp>
      <p:sp>
        <p:nvSpPr>
          <p:cNvPr id="19" name="Проприоцептивные text"/>
          <p:cNvSpPr txBox="1"/>
          <p:nvPr/>
        </p:nvSpPr>
        <p:spPr>
          <a:xfrm>
            <a:off x="6400800" y="27432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Сообщают о положении и движении тела</a:t>
            </a:r>
            <a:endParaRPr lang="en-US" sz="1400" dirty="0"/>
          </a:p>
        </p:txBody>
      </p:sp>
      <p:sp>
        <p:nvSpPr>
          <p:cNvPr id="20" name="Проприоцептивные examples"/>
          <p:cNvSpPr txBox="1"/>
          <p:nvPr/>
        </p:nvSpPr>
        <p:spPr>
          <a:xfrm>
            <a:off x="6400800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Примеры: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Равновесие, мышечное чувство, координация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Зрение</a:t>
            </a:r>
            <a:endParaRPr lang="en-US" sz="3200" dirty="0"/>
          </a:p>
        </p:txBody>
      </p:sp>
      <p:sp>
        <p:nvSpPr>
          <p:cNvPr id="3" name="Vision stat"/>
          <p:cNvSpPr txBox="1"/>
          <p:nvPr/>
        </p:nvSpPr>
        <p:spPr>
          <a:xfrm>
            <a:off x="457200" y="1143000"/>
            <a:ext cx="32918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≈80%</a:t>
            </a:r>
            <a:endParaRPr lang="en-US" sz="6000" dirty="0"/>
          </a:p>
        </p:txBody>
      </p:sp>
      <p:sp>
        <p:nvSpPr>
          <p:cNvPr id="4" name="Vision stat label"/>
          <p:cNvSpPr txBox="1"/>
          <p:nvPr/>
        </p:nvSpPr>
        <p:spPr>
          <a:xfrm>
            <a:off x="457200" y="2011680"/>
            <a:ext cx="32918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информации о мире человек получает через зрение</a:t>
            </a:r>
            <a:endParaRPr lang="en-US" sz="1400" dirty="0"/>
          </a:p>
        </p:txBody>
      </p:sp>
      <p:sp>
        <p:nvSpPr>
          <p:cNvPr id="5" name="Vision text"/>
          <p:cNvSpPr txBox="1"/>
          <p:nvPr/>
        </p:nvSpPr>
        <p:spPr>
          <a:xfrm>
            <a:off x="457200" y="274320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</a:rPr>
              <a:t>Зрение помогает видеть форму, цвет, расстояние и движение предметов.</a:t>
            </a:r>
            <a:endParaRPr lang="en-US" sz="1600" dirty="0"/>
          </a:p>
        </p:txBody>
      </p:sp>
      <p:sp>
        <p:nvSpPr>
          <p:cNvPr id="6" name="Vision disorders"/>
          <p:cNvSpPr txBox="1"/>
          <p:nvPr/>
        </p:nvSpPr>
        <p:spPr>
          <a:xfrm>
            <a:off x="457200" y="3703320"/>
            <a:ext cx="3291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Нарушения: </a:t>
            </a:r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близорукость, дальнозоркость, катаракта и др.</a:t>
            </a:r>
            <a:endParaRPr lang="en-US" sz="1400" dirty="0"/>
          </a:p>
        </p:txBody>
      </p:sp>
      <p:sp>
        <p:nvSpPr>
          <p:cNvPr id="7" name="Norm label"/>
          <p:cNvSpPr txBox="1"/>
          <p:nvPr/>
        </p:nvSpPr>
        <p:spPr>
          <a:xfrm>
            <a:off x="4114800" y="1143000"/>
            <a:ext cx="21945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Норма</a:t>
            </a:r>
            <a:endParaRPr lang="en-US" sz="1400" dirty="0"/>
          </a:p>
        </p:txBody>
      </p:sp>
      <p:sp>
        <p:nvSpPr>
          <p:cNvPr id="8" name="Pathology label"/>
          <p:cNvSpPr txBox="1"/>
          <p:nvPr/>
        </p:nvSpPr>
        <p:spPr>
          <a:xfrm>
            <a:off x="6492240" y="1143000"/>
            <a:ext cx="219456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Патология</a:t>
            </a:r>
            <a:endParaRPr lang="en-US" sz="1400" dirty="0"/>
          </a:p>
        </p:txBody>
      </p:sp>
      <p:pic>
        <p:nvPicPr>
          <p:cNvPr id="9" name="Clear landscape" descr="Чёткое изображение гор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0" y="1600200"/>
            <a:ext cx="2194560" cy="1508760"/>
          </a:xfrm>
          <a:prstGeom prst="rect">
            <a:avLst/>
          </a:prstGeom>
        </p:spPr>
      </p:pic>
      <p:pic>
        <p:nvPicPr>
          <p:cNvPr id="10" name="Blurred landscape" descr="Размытое изображение гор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1600200"/>
            <a:ext cx="2194560" cy="1508760"/>
          </a:xfrm>
          <a:prstGeom prst="rect">
            <a:avLst/>
          </a:prstGeom>
        </p:spPr>
      </p:pic>
      <p:pic>
        <p:nvPicPr>
          <p:cNvPr id="11" name="Healthy eye" descr="Здоровый глаз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14800" y="3291840"/>
            <a:ext cx="2194560" cy="1307592"/>
          </a:xfrm>
          <a:prstGeom prst="rect">
            <a:avLst/>
          </a:prstGeom>
        </p:spPr>
      </p:pic>
      <p:pic>
        <p:nvPicPr>
          <p:cNvPr id="12" name="Blurred eye" descr="Размытый глаз — нарушение зрения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92240" y="3291840"/>
            <a:ext cx="2194560" cy="1307592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Слух</a:t>
            </a:r>
            <a:endParaRPr lang="en-US" sz="3200" dirty="0"/>
          </a:p>
        </p:txBody>
      </p:sp>
      <p:pic>
        <p:nvPicPr>
          <p:cNvPr id="3" name="Ear diagram" descr="Строение уха: ушная раковина, слуховой проход, барабанная перепонка, слуховые косточки, улитк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4663440" cy="3108960"/>
          </a:xfrm>
          <a:prstGeom prst="rect">
            <a:avLst/>
          </a:prstGeom>
        </p:spPr>
      </p:pic>
      <p:sp>
        <p:nvSpPr>
          <p:cNvPr id="4" name="Ear caption"/>
          <p:cNvSpPr txBox="1"/>
          <p:nvPr/>
        </p:nvSpPr>
        <p:spPr>
          <a:xfrm>
            <a:off x="457200" y="4343400"/>
            <a:ext cx="4663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accent3"/>
                </a:solidFill>
              </a:rPr>
              <a:t>Строение уха: от ушной раковины до улитки внутреннего уха</a:t>
            </a:r>
            <a:endParaRPr lang="en-US" sz="1200" dirty="0"/>
          </a:p>
        </p:txBody>
      </p:sp>
      <p:sp>
        <p:nvSpPr>
          <p:cNvPr id="5" name="Hearing stat"/>
          <p:cNvSpPr txBox="1"/>
          <p:nvPr/>
        </p:nvSpPr>
        <p:spPr>
          <a:xfrm>
            <a:off x="5486400" y="114300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16 Гц – 20 кГц</a:t>
            </a:r>
            <a:endParaRPr lang="en-US" sz="2800" dirty="0"/>
          </a:p>
        </p:txBody>
      </p:sp>
      <p:sp>
        <p:nvSpPr>
          <p:cNvPr id="6" name="Hearing stat label"/>
          <p:cNvSpPr txBox="1"/>
          <p:nvPr/>
        </p:nvSpPr>
        <p:spPr>
          <a:xfrm>
            <a:off x="5486400" y="169164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accent3"/>
                </a:solidFill>
              </a:rPr>
              <a:t>диапазон звуков, которые слышит человек</a:t>
            </a:r>
            <a:endParaRPr lang="en-US" sz="1400" dirty="0"/>
          </a:p>
        </p:txBody>
      </p:sp>
      <p:sp>
        <p:nvSpPr>
          <p:cNvPr id="7" name="Норма circle"/>
          <p:cNvSpPr/>
          <p:nvPr/>
        </p:nvSpPr>
        <p:spPr>
          <a:xfrm>
            <a:off x="5486400" y="2240280"/>
            <a:ext cx="457200" cy="45720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8" name="Норма icon" descr="Норм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86984" y="2340864"/>
            <a:ext cx="256032" cy="256032"/>
          </a:xfrm>
          <a:prstGeom prst="rect">
            <a:avLst/>
          </a:prstGeom>
        </p:spPr>
      </p:pic>
      <p:sp>
        <p:nvSpPr>
          <p:cNvPr id="9" name="Норма title"/>
          <p:cNvSpPr txBox="1"/>
          <p:nvPr/>
        </p:nvSpPr>
        <p:spPr>
          <a:xfrm>
            <a:off x="6080760" y="222199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Норма</a:t>
            </a:r>
            <a:endParaRPr lang="en-US" sz="1600" dirty="0"/>
          </a:p>
        </p:txBody>
      </p:sp>
      <p:sp>
        <p:nvSpPr>
          <p:cNvPr id="10" name="Норма text"/>
          <p:cNvSpPr txBox="1"/>
          <p:nvPr/>
        </p:nvSpPr>
        <p:spPr>
          <a:xfrm>
            <a:off x="6080760" y="253288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Звук воспринимается чётко; различаем громкость, высоту и направление</a:t>
            </a:r>
            <a:endParaRPr lang="en-US" sz="1400" dirty="0"/>
          </a:p>
        </p:txBody>
      </p:sp>
      <p:sp>
        <p:nvSpPr>
          <p:cNvPr id="11" name="Патология circle"/>
          <p:cNvSpPr/>
          <p:nvPr/>
        </p:nvSpPr>
        <p:spPr>
          <a:xfrm>
            <a:off x="5486400" y="3520440"/>
            <a:ext cx="457200" cy="4572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2" name="Патология icon" descr="Патология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86984" y="3621024"/>
            <a:ext cx="256032" cy="256032"/>
          </a:xfrm>
          <a:prstGeom prst="rect">
            <a:avLst/>
          </a:prstGeom>
        </p:spPr>
      </p:pic>
      <p:sp>
        <p:nvSpPr>
          <p:cNvPr id="13" name="Патология title"/>
          <p:cNvSpPr txBox="1"/>
          <p:nvPr/>
        </p:nvSpPr>
        <p:spPr>
          <a:xfrm>
            <a:off x="6080760" y="3502152"/>
            <a:ext cx="2606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Патология</a:t>
            </a:r>
            <a:endParaRPr lang="en-US" sz="1600" dirty="0"/>
          </a:p>
        </p:txBody>
      </p:sp>
      <p:sp>
        <p:nvSpPr>
          <p:cNvPr id="14" name="Патология text"/>
          <p:cNvSpPr txBox="1"/>
          <p:nvPr/>
        </p:nvSpPr>
        <p:spPr>
          <a:xfrm>
            <a:off x="6080760" y="3813048"/>
            <a:ext cx="26060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Снижение слуха (тугоухость), шум в ушах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Обоняние и вкус</a:t>
            </a:r>
            <a:endParaRPr lang="en-US" sz="3200" dirty="0"/>
          </a:p>
        </p:txBody>
      </p:sp>
      <p:sp>
        <p:nvSpPr>
          <p:cNvPr id="3" name="Smell card"/>
          <p:cNvSpPr/>
          <p:nvPr/>
        </p:nvSpPr>
        <p:spPr>
          <a:xfrm>
            <a:off x="457200" y="1188720"/>
            <a:ext cx="39776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4" name="Taste card"/>
          <p:cNvSpPr/>
          <p:nvPr/>
        </p:nvSpPr>
        <p:spPr>
          <a:xfrm>
            <a:off x="4709160" y="1188720"/>
            <a:ext cx="3977640" cy="2514600"/>
          </a:xfrm>
          <a:prstGeom prst="roundRect">
            <a:avLst>
              <a:gd name="adj" fmla="val 4364"/>
            </a:avLst>
          </a:prstGeom>
          <a:solidFill>
            <a:schemeClr val="bg2"/>
          </a:solidFill>
          <a:ln/>
        </p:spPr>
      </p:sp>
      <p:sp>
        <p:nvSpPr>
          <p:cNvPr id="5" name="Обоняние circle"/>
          <p:cNvSpPr/>
          <p:nvPr/>
        </p:nvSpPr>
        <p:spPr>
          <a:xfrm>
            <a:off x="685800" y="1417320"/>
            <a:ext cx="640080" cy="64008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6" name="Обоняние icon" descr="Обоняни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6618" y="1558138"/>
            <a:ext cx="358445" cy="358445"/>
          </a:xfrm>
          <a:prstGeom prst="rect">
            <a:avLst/>
          </a:prstGeom>
        </p:spPr>
      </p:pic>
      <p:sp>
        <p:nvSpPr>
          <p:cNvPr id="7" name="Smell title"/>
          <p:cNvSpPr txBox="1"/>
          <p:nvPr/>
        </p:nvSpPr>
        <p:spPr>
          <a:xfrm>
            <a:off x="1463040" y="1508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Обоняние</a:t>
            </a:r>
            <a:endParaRPr lang="en-US" sz="2000" dirty="0"/>
          </a:p>
        </p:txBody>
      </p:sp>
      <p:sp>
        <p:nvSpPr>
          <p:cNvPr id="8" name="Smell list"/>
          <p:cNvSpPr txBox="1"/>
          <p:nvPr/>
        </p:nvSpPr>
        <p:spPr>
          <a:xfrm>
            <a:off x="685800" y="2240280"/>
            <a:ext cx="35661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Распознаёт тысячи запахов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Тесно связано с памятью и эмоциями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Предупреждает об опасности: дым, газ, испорченная еда</a:t>
            </a:r>
            <a:endParaRPr lang="en-US" sz="1400" dirty="0"/>
          </a:p>
        </p:txBody>
      </p:sp>
      <p:sp>
        <p:nvSpPr>
          <p:cNvPr id="9" name="Вкус circle"/>
          <p:cNvSpPr/>
          <p:nvPr/>
        </p:nvSpPr>
        <p:spPr>
          <a:xfrm>
            <a:off x="4937760" y="1417320"/>
            <a:ext cx="640080" cy="64008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0" name="Вкус icon" descr="Вкус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78578" y="1558138"/>
            <a:ext cx="358445" cy="358445"/>
          </a:xfrm>
          <a:prstGeom prst="rect">
            <a:avLst/>
          </a:prstGeom>
        </p:spPr>
      </p:pic>
      <p:sp>
        <p:nvSpPr>
          <p:cNvPr id="11" name="Taste title"/>
          <p:cNvSpPr txBox="1"/>
          <p:nvPr/>
        </p:nvSpPr>
        <p:spPr>
          <a:xfrm>
            <a:off x="5715000" y="150876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chemeClr val="tx2"/>
                </a:solidFill>
              </a:rPr>
              <a:t>Вкус</a:t>
            </a:r>
            <a:endParaRPr lang="en-US" sz="2000" dirty="0"/>
          </a:p>
        </p:txBody>
      </p:sp>
      <p:sp>
        <p:nvSpPr>
          <p:cNvPr id="12" name="Taste intro"/>
          <p:cNvSpPr txBox="1"/>
          <p:nvPr/>
        </p:nvSpPr>
        <p:spPr>
          <a:xfrm>
            <a:off x="4937760" y="224028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Пять базовых вкусов:</a:t>
            </a:r>
            <a:endParaRPr lang="en-US" sz="1400" dirty="0"/>
          </a:p>
        </p:txBody>
      </p:sp>
      <p:sp>
        <p:nvSpPr>
          <p:cNvPr id="13" name="Taste сладкий"/>
          <p:cNvSpPr txBox="1"/>
          <p:nvPr/>
        </p:nvSpPr>
        <p:spPr>
          <a:xfrm>
            <a:off x="4937760" y="2651760"/>
            <a:ext cx="1078992" cy="347472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сладкий</a:t>
            </a:r>
            <a:endParaRPr lang="en-US" sz="1400" dirty="0"/>
          </a:p>
        </p:txBody>
      </p:sp>
      <p:sp>
        <p:nvSpPr>
          <p:cNvPr id="14" name="Taste солёный"/>
          <p:cNvSpPr txBox="1"/>
          <p:nvPr/>
        </p:nvSpPr>
        <p:spPr>
          <a:xfrm>
            <a:off x="6126480" y="2651760"/>
            <a:ext cx="1078992" cy="347472"/>
          </a:xfrm>
          <a:prstGeom prst="roundRect">
            <a:avLst>
              <a:gd name="adj" fmla="val 50000"/>
            </a:avLst>
          </a:prstGeom>
          <a:solidFill>
            <a:schemeClr val="accent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солёный</a:t>
            </a:r>
            <a:endParaRPr lang="en-US" sz="1400" dirty="0"/>
          </a:p>
        </p:txBody>
      </p:sp>
      <p:sp>
        <p:nvSpPr>
          <p:cNvPr id="15" name="Taste кислый"/>
          <p:cNvSpPr txBox="1"/>
          <p:nvPr/>
        </p:nvSpPr>
        <p:spPr>
          <a:xfrm>
            <a:off x="7315200" y="2651760"/>
            <a:ext cx="1078992" cy="347472"/>
          </a:xfrm>
          <a:prstGeom prst="roundRect">
            <a:avLst>
              <a:gd name="adj" fmla="val 50000"/>
            </a:avLst>
          </a:prstGeom>
          <a:solidFill>
            <a:schemeClr val="accent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кислый</a:t>
            </a:r>
            <a:endParaRPr lang="en-US" sz="1400" dirty="0"/>
          </a:p>
        </p:txBody>
      </p:sp>
      <p:sp>
        <p:nvSpPr>
          <p:cNvPr id="16" name="Taste горький"/>
          <p:cNvSpPr txBox="1"/>
          <p:nvPr/>
        </p:nvSpPr>
        <p:spPr>
          <a:xfrm>
            <a:off x="4937760" y="3108960"/>
            <a:ext cx="1078992" cy="347472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горький</a:t>
            </a:r>
            <a:endParaRPr lang="en-US" sz="1400" dirty="0"/>
          </a:p>
        </p:txBody>
      </p:sp>
      <p:sp>
        <p:nvSpPr>
          <p:cNvPr id="17" name="Taste умами"/>
          <p:cNvSpPr txBox="1"/>
          <p:nvPr/>
        </p:nvSpPr>
        <p:spPr>
          <a:xfrm>
            <a:off x="6126480" y="3108960"/>
            <a:ext cx="1078992" cy="347472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умами</a:t>
            </a:r>
            <a:endParaRPr lang="en-US" sz="1400" dirty="0"/>
          </a:p>
        </p:txBody>
      </p:sp>
      <p:sp>
        <p:nvSpPr>
          <p:cNvPr id="18" name="Link note"/>
          <p:cNvSpPr/>
          <p:nvPr/>
        </p:nvSpPr>
        <p:spPr>
          <a:xfrm>
            <a:off x="457200" y="3931920"/>
            <a:ext cx="8229600" cy="731520"/>
          </a:xfrm>
          <a:prstGeom prst="roundRect">
            <a:avLst>
              <a:gd name="adj" fmla="val 15000"/>
            </a:avLst>
          </a:prstGeom>
          <a:solidFill>
            <a:schemeClr val="accent6"/>
          </a:solidFill>
          <a:ln/>
        </p:spPr>
      </p:sp>
      <p:pic>
        <p:nvPicPr>
          <p:cNvPr id="19" name="Link icon" descr="Связ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114800"/>
            <a:ext cx="365760" cy="365760"/>
          </a:xfrm>
          <a:prstGeom prst="rect">
            <a:avLst/>
          </a:prstGeom>
        </p:spPr>
      </p:pic>
      <p:sp>
        <p:nvSpPr>
          <p:cNvPr id="20" name="Link text"/>
          <p:cNvSpPr txBox="1"/>
          <p:nvPr/>
        </p:nvSpPr>
        <p:spPr>
          <a:xfrm>
            <a:off x="1234440" y="3931920"/>
            <a:ext cx="7269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chemeClr val="tx2"/>
                </a:solidFill>
              </a:rPr>
              <a:t>Вкус и запах работают вместе: при насморке еда кажется «безвкусной»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Тактильные ощущения</a:t>
            </a:r>
            <a:endParaRPr lang="en-US" sz="3200" dirty="0"/>
          </a:p>
        </p:txBody>
      </p:sp>
      <p:sp>
        <p:nvSpPr>
          <p:cNvPr id="3" name="Прикосновение card"/>
          <p:cNvSpPr/>
          <p:nvPr/>
        </p:nvSpPr>
        <p:spPr>
          <a:xfrm>
            <a:off x="457200" y="114300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pic>
        <p:nvPicPr>
          <p:cNvPr id="4" name="Прикосновение photo" descr="Прикосновение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143000"/>
            <a:ext cx="2560320" cy="1188720"/>
          </a:xfrm>
          <a:prstGeom prst="rect">
            <a:avLst/>
          </a:prstGeom>
        </p:spPr>
      </p:pic>
      <p:sp>
        <p:nvSpPr>
          <p:cNvPr id="5" name="Прикосновение title"/>
          <p:cNvSpPr txBox="1"/>
          <p:nvPr/>
        </p:nvSpPr>
        <p:spPr>
          <a:xfrm>
            <a:off x="685800" y="2468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3"/>
                </a:solidFill>
              </a:rPr>
              <a:t>Прикосновение</a:t>
            </a:r>
            <a:endParaRPr lang="en-US" sz="1700" dirty="0"/>
          </a:p>
        </p:txBody>
      </p:sp>
      <p:sp>
        <p:nvSpPr>
          <p:cNvPr id="6" name="Прикосновение text"/>
          <p:cNvSpPr txBox="1"/>
          <p:nvPr/>
        </p:nvSpPr>
        <p:spPr>
          <a:xfrm>
            <a:off x="685800" y="2852928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Давление, текстура и форма предметов</a:t>
            </a:r>
            <a:endParaRPr lang="en-US" sz="1400" dirty="0"/>
          </a:p>
        </p:txBody>
      </p:sp>
      <p:sp>
        <p:nvSpPr>
          <p:cNvPr id="7" name="Температура card"/>
          <p:cNvSpPr/>
          <p:nvPr/>
        </p:nvSpPr>
        <p:spPr>
          <a:xfrm>
            <a:off x="3291840" y="114300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pic>
        <p:nvPicPr>
          <p:cNvPr id="8" name="Температура photo" descr="Температура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0" y="1143000"/>
            <a:ext cx="2560320" cy="1188720"/>
          </a:xfrm>
          <a:prstGeom prst="rect">
            <a:avLst/>
          </a:prstGeom>
        </p:spPr>
      </p:pic>
      <p:sp>
        <p:nvSpPr>
          <p:cNvPr id="9" name="Температура title"/>
          <p:cNvSpPr txBox="1"/>
          <p:nvPr/>
        </p:nvSpPr>
        <p:spPr>
          <a:xfrm>
            <a:off x="3520440" y="2468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4"/>
                </a:solidFill>
              </a:rPr>
              <a:t>Температура</a:t>
            </a:r>
            <a:endParaRPr lang="en-US" sz="1700" dirty="0"/>
          </a:p>
        </p:txBody>
      </p:sp>
      <p:sp>
        <p:nvSpPr>
          <p:cNvPr id="10" name="Температура text"/>
          <p:cNvSpPr txBox="1"/>
          <p:nvPr/>
        </p:nvSpPr>
        <p:spPr>
          <a:xfrm>
            <a:off x="3520440" y="2852928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Тепло и холод — защищают от ожогов и переохлаждения</a:t>
            </a:r>
            <a:endParaRPr lang="en-US" sz="1400" dirty="0"/>
          </a:p>
        </p:txBody>
      </p:sp>
      <p:sp>
        <p:nvSpPr>
          <p:cNvPr id="11" name="Боль card"/>
          <p:cNvSpPr/>
          <p:nvPr/>
        </p:nvSpPr>
        <p:spPr>
          <a:xfrm>
            <a:off x="6126480" y="1143000"/>
            <a:ext cx="2560320" cy="2743200"/>
          </a:xfrm>
          <a:prstGeom prst="roundRect">
            <a:avLst>
              <a:gd name="adj" fmla="val 4286"/>
            </a:avLst>
          </a:prstGeom>
          <a:solidFill>
            <a:schemeClr val="bg2"/>
          </a:solidFill>
          <a:ln/>
        </p:spPr>
      </p:sp>
      <p:pic>
        <p:nvPicPr>
          <p:cNvPr id="12" name="Боль photo" descr="Боль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143000"/>
            <a:ext cx="2560320" cy="1188720"/>
          </a:xfrm>
          <a:prstGeom prst="rect">
            <a:avLst/>
          </a:prstGeom>
        </p:spPr>
      </p:pic>
      <p:sp>
        <p:nvSpPr>
          <p:cNvPr id="13" name="Боль title"/>
          <p:cNvSpPr txBox="1"/>
          <p:nvPr/>
        </p:nvSpPr>
        <p:spPr>
          <a:xfrm>
            <a:off x="6355080" y="246888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accent1"/>
                </a:solidFill>
              </a:rPr>
              <a:t>Боль</a:t>
            </a:r>
            <a:endParaRPr lang="en-US" sz="1700" dirty="0"/>
          </a:p>
        </p:txBody>
      </p:sp>
      <p:sp>
        <p:nvSpPr>
          <p:cNvPr id="14" name="Боль text"/>
          <p:cNvSpPr txBox="1"/>
          <p:nvPr/>
        </p:nvSpPr>
        <p:spPr>
          <a:xfrm>
            <a:off x="6355080" y="2852928"/>
            <a:ext cx="21031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Сигнал опасности: защищает организм от повреждений</a:t>
            </a:r>
            <a:endParaRPr lang="en-US" sz="1400" dirty="0"/>
          </a:p>
        </p:txBody>
      </p:sp>
      <p:sp>
        <p:nvSpPr>
          <p:cNvPr id="15" name="Touch summary"/>
          <p:cNvSpPr txBox="1"/>
          <p:nvPr/>
        </p:nvSpPr>
        <p:spPr>
          <a:xfrm>
            <a:off x="457200" y="4069080"/>
            <a:ext cx="82296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</a:rPr>
              <a:t>Кожа — самый большой орган чувств. Благодаря ей мы чувствуем предметы, избегаем опасности и заботимся о своём теле.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Свойства ощущений</a:t>
            </a:r>
            <a:endParaRPr lang="en-US" sz="3200" dirty="0"/>
          </a:p>
        </p:txBody>
      </p:sp>
      <p:sp>
        <p:nvSpPr>
          <p:cNvPr id="3" name="Порог чувствительности card"/>
          <p:cNvSpPr/>
          <p:nvPr/>
        </p:nvSpPr>
        <p:spPr>
          <a:xfrm>
            <a:off x="457200" y="1143000"/>
            <a:ext cx="402336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4" name="Порог чувствительности circle"/>
          <p:cNvSpPr/>
          <p:nvPr/>
        </p:nvSpPr>
        <p:spPr>
          <a:xfrm>
            <a:off x="685800" y="1417320"/>
            <a:ext cx="548640" cy="548640"/>
          </a:xfrm>
          <a:prstGeom prst="ellipse">
            <a:avLst/>
          </a:prstGeom>
          <a:solidFill>
            <a:schemeClr val="accent3"/>
          </a:solidFill>
          <a:ln/>
        </p:spPr>
      </p:sp>
      <p:pic>
        <p:nvPicPr>
          <p:cNvPr id="5" name="Порог чувствительности icon" descr="Порог чувствительности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501" y="1538021"/>
            <a:ext cx="307238" cy="307238"/>
          </a:xfrm>
          <a:prstGeom prst="rect">
            <a:avLst/>
          </a:prstGeom>
        </p:spPr>
      </p:pic>
      <p:sp>
        <p:nvSpPr>
          <p:cNvPr id="6" name="Порог чувствительности title"/>
          <p:cNvSpPr txBox="1"/>
          <p:nvPr/>
        </p:nvSpPr>
        <p:spPr>
          <a:xfrm>
            <a:off x="141732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Порог чувствительности</a:t>
            </a:r>
            <a:endParaRPr lang="en-US" sz="1600" dirty="0"/>
          </a:p>
        </p:txBody>
      </p:sp>
      <p:sp>
        <p:nvSpPr>
          <p:cNvPr id="7" name="Порог чувствительности text"/>
          <p:cNvSpPr txBox="1"/>
          <p:nvPr/>
        </p:nvSpPr>
        <p:spPr>
          <a:xfrm>
            <a:off x="1417320" y="17647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Минимальная сила раздражителя, которая вызывает едва заметное ощущение</a:t>
            </a:r>
            <a:endParaRPr lang="en-US" sz="1400" dirty="0"/>
          </a:p>
        </p:txBody>
      </p:sp>
      <p:sp>
        <p:nvSpPr>
          <p:cNvPr id="8" name="Адаптация card"/>
          <p:cNvSpPr/>
          <p:nvPr/>
        </p:nvSpPr>
        <p:spPr>
          <a:xfrm>
            <a:off x="4663440" y="1143000"/>
            <a:ext cx="402336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9" name="Адаптация circle"/>
          <p:cNvSpPr/>
          <p:nvPr/>
        </p:nvSpPr>
        <p:spPr>
          <a:xfrm>
            <a:off x="4892040" y="1417320"/>
            <a:ext cx="548640" cy="548640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0" name="Адаптация icon" descr="Адаптация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12741" y="1538021"/>
            <a:ext cx="307238" cy="307238"/>
          </a:xfrm>
          <a:prstGeom prst="rect">
            <a:avLst/>
          </a:prstGeom>
        </p:spPr>
      </p:pic>
      <p:sp>
        <p:nvSpPr>
          <p:cNvPr id="11" name="Адаптация title"/>
          <p:cNvSpPr txBox="1"/>
          <p:nvPr/>
        </p:nvSpPr>
        <p:spPr>
          <a:xfrm>
            <a:off x="5623560" y="13716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Адаптация</a:t>
            </a:r>
            <a:endParaRPr lang="en-US" sz="1600" dirty="0"/>
          </a:p>
        </p:txBody>
      </p:sp>
      <p:sp>
        <p:nvSpPr>
          <p:cNvPr id="12" name="Адаптация text"/>
          <p:cNvSpPr txBox="1"/>
          <p:nvPr/>
        </p:nvSpPr>
        <p:spPr>
          <a:xfrm>
            <a:off x="5623560" y="17647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Привыкание к раздражителю: со временем мы перестаём замечать запах в комнате</a:t>
            </a:r>
            <a:endParaRPr lang="en-US" sz="1400" dirty="0"/>
          </a:p>
        </p:txBody>
      </p:sp>
      <p:sp>
        <p:nvSpPr>
          <p:cNvPr id="13" name="Сенсибилизация card"/>
          <p:cNvSpPr/>
          <p:nvPr/>
        </p:nvSpPr>
        <p:spPr>
          <a:xfrm>
            <a:off x="457200" y="2971800"/>
            <a:ext cx="402336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4" name="Сенсибилизация circle"/>
          <p:cNvSpPr/>
          <p:nvPr/>
        </p:nvSpPr>
        <p:spPr>
          <a:xfrm>
            <a:off x="685800" y="3246120"/>
            <a:ext cx="548640" cy="54864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5" name="Сенсибилизация icon" descr="Сенсибилизация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6501" y="3366821"/>
            <a:ext cx="307238" cy="307238"/>
          </a:xfrm>
          <a:prstGeom prst="rect">
            <a:avLst/>
          </a:prstGeom>
        </p:spPr>
      </p:pic>
      <p:sp>
        <p:nvSpPr>
          <p:cNvPr id="16" name="Сенсибилизация title"/>
          <p:cNvSpPr txBox="1"/>
          <p:nvPr/>
        </p:nvSpPr>
        <p:spPr>
          <a:xfrm>
            <a:off x="1417320" y="3200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Сенсибилизация</a:t>
            </a:r>
            <a:endParaRPr lang="en-US" sz="1600" dirty="0"/>
          </a:p>
        </p:txBody>
      </p:sp>
      <p:sp>
        <p:nvSpPr>
          <p:cNvPr id="17" name="Сенсибилизация text"/>
          <p:cNvSpPr txBox="1"/>
          <p:nvPr/>
        </p:nvSpPr>
        <p:spPr>
          <a:xfrm>
            <a:off x="1417320" y="35935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Повышение чувствительности под влиянием упражнений или других органов чувств</a:t>
            </a:r>
            <a:endParaRPr lang="en-US" sz="1400" dirty="0"/>
          </a:p>
        </p:txBody>
      </p:sp>
      <p:sp>
        <p:nvSpPr>
          <p:cNvPr id="18" name="Синестезия card"/>
          <p:cNvSpPr/>
          <p:nvPr/>
        </p:nvSpPr>
        <p:spPr>
          <a:xfrm>
            <a:off x="4663440" y="2971800"/>
            <a:ext cx="4023360" cy="1645920"/>
          </a:xfrm>
          <a:prstGeom prst="roundRect">
            <a:avLst>
              <a:gd name="adj" fmla="val 6667"/>
            </a:avLst>
          </a:prstGeom>
          <a:solidFill>
            <a:schemeClr val="bg2"/>
          </a:solidFill>
          <a:ln/>
        </p:spPr>
      </p:sp>
      <p:sp>
        <p:nvSpPr>
          <p:cNvPr id="19" name="Синестезия circle"/>
          <p:cNvSpPr/>
          <p:nvPr/>
        </p:nvSpPr>
        <p:spPr>
          <a:xfrm>
            <a:off x="4892040" y="3246120"/>
            <a:ext cx="548640" cy="548640"/>
          </a:xfrm>
          <a:prstGeom prst="ellipse">
            <a:avLst/>
          </a:prstGeom>
          <a:solidFill>
            <a:schemeClr val="accent4"/>
          </a:solidFill>
          <a:ln/>
        </p:spPr>
      </p:sp>
      <p:pic>
        <p:nvPicPr>
          <p:cNvPr id="20" name="Синестезия icon" descr="Синестезия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12741" y="3366821"/>
            <a:ext cx="307238" cy="307238"/>
          </a:xfrm>
          <a:prstGeom prst="rect">
            <a:avLst/>
          </a:prstGeom>
        </p:spPr>
      </p:pic>
      <p:sp>
        <p:nvSpPr>
          <p:cNvPr id="21" name="Синестезия title"/>
          <p:cNvSpPr txBox="1"/>
          <p:nvPr/>
        </p:nvSpPr>
        <p:spPr>
          <a:xfrm>
            <a:off x="5623560" y="320040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chemeClr val="tx2"/>
                </a:solidFill>
              </a:rPr>
              <a:t>Синестезия</a:t>
            </a:r>
            <a:endParaRPr lang="en-US" sz="1600" dirty="0"/>
          </a:p>
        </p:txBody>
      </p:sp>
      <p:sp>
        <p:nvSpPr>
          <p:cNvPr id="22" name="Синестезия text"/>
          <p:cNvSpPr txBox="1"/>
          <p:nvPr/>
        </p:nvSpPr>
        <p:spPr>
          <a:xfrm>
            <a:off x="5623560" y="3593592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Ощущение одного вида вызывает ощущение другого — например, «цветной слух»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Норма и патология ощущений</a:t>
            </a:r>
            <a:endParaRPr lang="en-US" sz="3200" dirty="0"/>
          </a:p>
        </p:txBody>
      </p:sp>
      <p:sp>
        <p:nvSpPr>
          <p:cNvPr id="3" name="Норма label"/>
          <p:cNvSpPr txBox="1"/>
          <p:nvPr/>
        </p:nvSpPr>
        <p:spPr>
          <a:xfrm>
            <a:off x="457200" y="1097280"/>
            <a:ext cx="4023360" cy="329184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Норма</a:t>
            </a:r>
            <a:endParaRPr lang="en-US" sz="1400" dirty="0"/>
          </a:p>
        </p:txBody>
      </p:sp>
      <p:pic>
        <p:nvPicPr>
          <p:cNvPr id="4" name="Норма photo" descr="Норма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554480"/>
            <a:ext cx="4023360" cy="1371600"/>
          </a:xfrm>
          <a:prstGeom prst="rect">
            <a:avLst/>
          </a:prstGeom>
        </p:spPr>
      </p:pic>
      <p:sp>
        <p:nvSpPr>
          <p:cNvPr id="5" name="Норма item 1 circle"/>
          <p:cNvSpPr/>
          <p:nvPr/>
        </p:nvSpPr>
        <p:spPr>
          <a:xfrm>
            <a:off x="457200" y="3136392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6" name="Норма item 1 icon" descr="Норма item 1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3527" y="3192719"/>
            <a:ext cx="143378" cy="143378"/>
          </a:xfrm>
          <a:prstGeom prst="rect">
            <a:avLst/>
          </a:prstGeom>
        </p:spPr>
      </p:pic>
      <p:sp>
        <p:nvSpPr>
          <p:cNvPr id="7" name="Норма item 1 text"/>
          <p:cNvSpPr txBox="1"/>
          <p:nvPr/>
        </p:nvSpPr>
        <p:spPr>
          <a:xfrm>
            <a:off x="841248" y="3108960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Чёткое зрение и хороший слух</a:t>
            </a:r>
            <a:endParaRPr lang="en-US" sz="1400" dirty="0"/>
          </a:p>
        </p:txBody>
      </p:sp>
      <p:sp>
        <p:nvSpPr>
          <p:cNvPr id="8" name="Норма item 2 circle"/>
          <p:cNvSpPr/>
          <p:nvPr/>
        </p:nvSpPr>
        <p:spPr>
          <a:xfrm>
            <a:off x="457200" y="3538728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9" name="Норма item 2 icon" descr="Норма item 2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13527" y="3595055"/>
            <a:ext cx="143378" cy="143378"/>
          </a:xfrm>
          <a:prstGeom prst="rect">
            <a:avLst/>
          </a:prstGeom>
        </p:spPr>
      </p:pic>
      <p:sp>
        <p:nvSpPr>
          <p:cNvPr id="10" name="Норма item 2 text"/>
          <p:cNvSpPr txBox="1"/>
          <p:nvPr/>
        </p:nvSpPr>
        <p:spPr>
          <a:xfrm>
            <a:off x="841248" y="3511296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Различение запахов и вкусов</a:t>
            </a:r>
            <a:endParaRPr lang="en-US" sz="1400" dirty="0"/>
          </a:p>
        </p:txBody>
      </p:sp>
      <p:sp>
        <p:nvSpPr>
          <p:cNvPr id="11" name="Норма item 3 circle"/>
          <p:cNvSpPr/>
          <p:nvPr/>
        </p:nvSpPr>
        <p:spPr>
          <a:xfrm>
            <a:off x="457200" y="3941064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2" name="Норма item 3 icon" descr="Норма item 3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13527" y="3997391"/>
            <a:ext cx="143378" cy="143378"/>
          </a:xfrm>
          <a:prstGeom prst="rect">
            <a:avLst/>
          </a:prstGeom>
        </p:spPr>
      </p:pic>
      <p:sp>
        <p:nvSpPr>
          <p:cNvPr id="13" name="Норма item 3 text"/>
          <p:cNvSpPr txBox="1"/>
          <p:nvPr/>
        </p:nvSpPr>
        <p:spPr>
          <a:xfrm>
            <a:off x="841248" y="3913632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Нормальная чувствительность кожи</a:t>
            </a:r>
            <a:endParaRPr lang="en-US" sz="1400" dirty="0"/>
          </a:p>
        </p:txBody>
      </p:sp>
      <p:sp>
        <p:nvSpPr>
          <p:cNvPr id="14" name="Норма item 4 circle"/>
          <p:cNvSpPr/>
          <p:nvPr/>
        </p:nvSpPr>
        <p:spPr>
          <a:xfrm>
            <a:off x="457200" y="4343400"/>
            <a:ext cx="256032" cy="256032"/>
          </a:xfrm>
          <a:prstGeom prst="ellipse">
            <a:avLst/>
          </a:prstGeom>
          <a:solidFill>
            <a:schemeClr val="accent2"/>
          </a:solidFill>
          <a:ln/>
        </p:spPr>
      </p:sp>
      <p:pic>
        <p:nvPicPr>
          <p:cNvPr id="15" name="Норма item 4 icon" descr="Норма item 4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527" y="4399727"/>
            <a:ext cx="143378" cy="143378"/>
          </a:xfrm>
          <a:prstGeom prst="rect">
            <a:avLst/>
          </a:prstGeom>
        </p:spPr>
      </p:pic>
      <p:sp>
        <p:nvSpPr>
          <p:cNvPr id="16" name="Норма item 4 text"/>
          <p:cNvSpPr txBox="1"/>
          <p:nvPr/>
        </p:nvSpPr>
        <p:spPr>
          <a:xfrm>
            <a:off x="841248" y="4315968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Полноценное восприятие мира</a:t>
            </a:r>
            <a:endParaRPr lang="en-US" sz="1400" dirty="0"/>
          </a:p>
        </p:txBody>
      </p:sp>
      <p:sp>
        <p:nvSpPr>
          <p:cNvPr id="17" name="Патология label"/>
          <p:cNvSpPr txBox="1"/>
          <p:nvPr/>
        </p:nvSpPr>
        <p:spPr>
          <a:xfrm>
            <a:off x="4663440" y="1097280"/>
            <a:ext cx="4023360" cy="329184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Патология</a:t>
            </a:r>
            <a:endParaRPr lang="en-US" sz="1400" dirty="0"/>
          </a:p>
        </p:txBody>
      </p:sp>
      <p:pic>
        <p:nvPicPr>
          <p:cNvPr id="18" name="Патология photo" descr="Патология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63440" y="1554480"/>
            <a:ext cx="4023360" cy="1371600"/>
          </a:xfrm>
          <a:prstGeom prst="rect">
            <a:avLst/>
          </a:prstGeom>
        </p:spPr>
      </p:pic>
      <p:sp>
        <p:nvSpPr>
          <p:cNvPr id="19" name="Патология item 1 circle"/>
          <p:cNvSpPr/>
          <p:nvPr/>
        </p:nvSpPr>
        <p:spPr>
          <a:xfrm>
            <a:off x="4663440" y="3136392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0" name="Патология item 1 icon" descr="Патология item 1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19767" y="3192719"/>
            <a:ext cx="143378" cy="143378"/>
          </a:xfrm>
          <a:prstGeom prst="rect">
            <a:avLst/>
          </a:prstGeom>
        </p:spPr>
      </p:pic>
      <p:sp>
        <p:nvSpPr>
          <p:cNvPr id="21" name="Патология item 1 text"/>
          <p:cNvSpPr txBox="1"/>
          <p:nvPr/>
        </p:nvSpPr>
        <p:spPr>
          <a:xfrm>
            <a:off x="5047488" y="3108960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Снижение зрения или слуха</a:t>
            </a:r>
            <a:endParaRPr lang="en-US" sz="1400" dirty="0"/>
          </a:p>
        </p:txBody>
      </p:sp>
      <p:sp>
        <p:nvSpPr>
          <p:cNvPr id="22" name="Патология item 2 circle"/>
          <p:cNvSpPr/>
          <p:nvPr/>
        </p:nvSpPr>
        <p:spPr>
          <a:xfrm>
            <a:off x="4663440" y="3538728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3" name="Патология item 2 icon" descr="Патология item 2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19767" y="3595055"/>
            <a:ext cx="143378" cy="143378"/>
          </a:xfrm>
          <a:prstGeom prst="rect">
            <a:avLst/>
          </a:prstGeom>
        </p:spPr>
      </p:pic>
      <p:sp>
        <p:nvSpPr>
          <p:cNvPr id="24" name="Патология item 2 text"/>
          <p:cNvSpPr txBox="1"/>
          <p:nvPr/>
        </p:nvSpPr>
        <p:spPr>
          <a:xfrm>
            <a:off x="5047488" y="3511296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Нарушение обоняния и вкуса</a:t>
            </a:r>
            <a:endParaRPr lang="en-US" sz="1400" dirty="0"/>
          </a:p>
        </p:txBody>
      </p:sp>
      <p:sp>
        <p:nvSpPr>
          <p:cNvPr id="25" name="Патология item 3 circle"/>
          <p:cNvSpPr/>
          <p:nvPr/>
        </p:nvSpPr>
        <p:spPr>
          <a:xfrm>
            <a:off x="4663440" y="3941064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6" name="Патология item 3 icon" descr="Патология item 3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19767" y="3997391"/>
            <a:ext cx="143378" cy="143378"/>
          </a:xfrm>
          <a:prstGeom prst="rect">
            <a:avLst/>
          </a:prstGeom>
        </p:spPr>
      </p:pic>
      <p:sp>
        <p:nvSpPr>
          <p:cNvPr id="27" name="Патология item 3 text"/>
          <p:cNvSpPr txBox="1"/>
          <p:nvPr/>
        </p:nvSpPr>
        <p:spPr>
          <a:xfrm>
            <a:off x="5047488" y="3913632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Нарушение чувствительности кожи</a:t>
            </a:r>
            <a:endParaRPr lang="en-US" sz="1400" dirty="0"/>
          </a:p>
        </p:txBody>
      </p:sp>
      <p:sp>
        <p:nvSpPr>
          <p:cNvPr id="28" name="Патология item 4 circle"/>
          <p:cNvSpPr/>
          <p:nvPr/>
        </p:nvSpPr>
        <p:spPr>
          <a:xfrm>
            <a:off x="4663440" y="4343400"/>
            <a:ext cx="256032" cy="256032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29" name="Патология item 4 icon" descr="Патология item 4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19767" y="4399727"/>
            <a:ext cx="143378" cy="143378"/>
          </a:xfrm>
          <a:prstGeom prst="rect">
            <a:avLst/>
          </a:prstGeom>
        </p:spPr>
      </p:pic>
      <p:sp>
        <p:nvSpPr>
          <p:cNvPr id="30" name="Патология item 4 text"/>
          <p:cNvSpPr txBox="1"/>
          <p:nvPr/>
        </p:nvSpPr>
        <p:spPr>
          <a:xfrm>
            <a:off x="5047488" y="4315968"/>
            <a:ext cx="363931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</a:rPr>
              <a:t>Ложные ощущения (галлюцинации)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3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2004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chemeClr val="bg1"/>
                </a:solidFill>
              </a:rPr>
              <a:t>Выводы</a:t>
            </a:r>
            <a:endParaRPr lang="en-US" sz="3400" dirty="0"/>
          </a:p>
        </p:txBody>
      </p:sp>
      <p:sp>
        <p:nvSpPr>
          <p:cNvPr id="3" name="Takeaway 1 card"/>
          <p:cNvSpPr/>
          <p:nvPr/>
        </p:nvSpPr>
        <p:spPr>
          <a:xfrm>
            <a:off x="457200" y="1234440"/>
            <a:ext cx="2560320" cy="2697480"/>
          </a:xfrm>
          <a:prstGeom prst="roundRect">
            <a:avLst>
              <a:gd name="adj" fmla="val 4286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4" name="Takeaway 1 circle"/>
          <p:cNvSpPr/>
          <p:nvPr/>
        </p:nvSpPr>
        <p:spPr>
          <a:xfrm>
            <a:off x="731520" y="14630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5" name="Takeaway 1 icon" descr="Takeaway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2396" y="1613916"/>
            <a:ext cx="384048" cy="384048"/>
          </a:xfrm>
          <a:prstGeom prst="rect">
            <a:avLst/>
          </a:prstGeom>
        </p:spPr>
      </p:pic>
      <p:sp>
        <p:nvSpPr>
          <p:cNvPr id="6" name="Takeaway 1 text"/>
          <p:cNvSpPr txBox="1"/>
          <p:nvPr/>
        </p:nvSpPr>
        <p:spPr>
          <a:xfrm>
            <a:off x="731520" y="23317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Ощущения — основа познания: из них строятся восприятие, память и мышление</a:t>
            </a:r>
            <a:endParaRPr lang="en-US" sz="1500" dirty="0"/>
          </a:p>
        </p:txBody>
      </p:sp>
      <p:sp>
        <p:nvSpPr>
          <p:cNvPr id="7" name="Takeaway 2 card"/>
          <p:cNvSpPr/>
          <p:nvPr/>
        </p:nvSpPr>
        <p:spPr>
          <a:xfrm>
            <a:off x="3291840" y="1234440"/>
            <a:ext cx="2560320" cy="2697480"/>
          </a:xfrm>
          <a:prstGeom prst="roundRect">
            <a:avLst>
              <a:gd name="adj" fmla="val 4286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8" name="Takeaway 2 circle"/>
          <p:cNvSpPr/>
          <p:nvPr/>
        </p:nvSpPr>
        <p:spPr>
          <a:xfrm>
            <a:off x="3566160" y="14630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9" name="Takeaway 2 icon" descr="Takeaway 2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7036" y="1613916"/>
            <a:ext cx="384048" cy="384048"/>
          </a:xfrm>
          <a:prstGeom prst="rect">
            <a:avLst/>
          </a:prstGeom>
        </p:spPr>
      </p:pic>
      <p:sp>
        <p:nvSpPr>
          <p:cNvPr id="10" name="Takeaway 2 text"/>
          <p:cNvSpPr txBox="1"/>
          <p:nvPr/>
        </p:nvSpPr>
        <p:spPr>
          <a:xfrm>
            <a:off x="3566160" y="23317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Органы чувств работают вместе и дают целостную картину мира</a:t>
            </a:r>
            <a:endParaRPr lang="en-US" sz="1500" dirty="0"/>
          </a:p>
        </p:txBody>
      </p:sp>
      <p:sp>
        <p:nvSpPr>
          <p:cNvPr id="11" name="Takeaway 3 card"/>
          <p:cNvSpPr/>
          <p:nvPr/>
        </p:nvSpPr>
        <p:spPr>
          <a:xfrm>
            <a:off x="6126480" y="1234440"/>
            <a:ext cx="2560320" cy="2697480"/>
          </a:xfrm>
          <a:prstGeom prst="roundRect">
            <a:avLst>
              <a:gd name="adj" fmla="val 4286"/>
            </a:avLst>
          </a:prstGeom>
          <a:solidFill>
            <a:schemeClr val="bg1">
              <a:alpha val="10000"/>
            </a:schemeClr>
          </a:solidFill>
          <a:ln/>
        </p:spPr>
      </p:sp>
      <p:sp>
        <p:nvSpPr>
          <p:cNvPr id="12" name="Takeaway 3 circle"/>
          <p:cNvSpPr/>
          <p:nvPr/>
        </p:nvSpPr>
        <p:spPr>
          <a:xfrm>
            <a:off x="6400800" y="1463040"/>
            <a:ext cx="685800" cy="685800"/>
          </a:xfrm>
          <a:prstGeom prst="ellipse">
            <a:avLst/>
          </a:prstGeom>
          <a:solidFill>
            <a:schemeClr val="accent1"/>
          </a:solidFill>
          <a:ln/>
        </p:spPr>
      </p:sp>
      <p:pic>
        <p:nvPicPr>
          <p:cNvPr id="13" name="Takeaway 3 icon" descr="Takeaway 3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51676" y="1613916"/>
            <a:ext cx="384048" cy="384048"/>
          </a:xfrm>
          <a:prstGeom prst="rect">
            <a:avLst/>
          </a:prstGeom>
        </p:spPr>
      </p:pic>
      <p:sp>
        <p:nvSpPr>
          <p:cNvPr id="14" name="Takeaway 3 text"/>
          <p:cNvSpPr txBox="1"/>
          <p:nvPr/>
        </p:nvSpPr>
        <p:spPr>
          <a:xfrm>
            <a:off x="6400800" y="2331720"/>
            <a:ext cx="2057400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bg1"/>
                </a:solidFill>
              </a:rPr>
              <a:t>Нарушения ощущений снижают качество жизни — важно беречь здоровье и вовремя обращаться к врачу</a:t>
            </a:r>
            <a:endParaRPr lang="en-US" sz="1500" dirty="0"/>
          </a:p>
        </p:txBody>
      </p:sp>
      <p:sp>
        <p:nvSpPr>
          <p:cNvPr id="15" name="Thanks"/>
          <p:cNvSpPr txBox="1"/>
          <p:nvPr/>
        </p:nvSpPr>
        <p:spPr>
          <a:xfrm>
            <a:off x="457200" y="41605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i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Спасибо за внимание!</a:t>
            </a:r>
            <a:endParaRPr lang="en-US" sz="2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enses">
  <a:themeElements>
    <a:clrScheme name="Senses">
      <a:dk1>
        <a:srgbClr val="1F1A2E"/>
      </a:dk1>
      <a:lt1>
        <a:srgbClr val="FFFFFF"/>
      </a:lt1>
      <a:dk2>
        <a:srgbClr val="2D1B4E"/>
      </a:dk2>
      <a:lt2>
        <a:srgbClr val="F3EFFA"/>
      </a:lt2>
      <a:accent1>
        <a:srgbClr val="F26B5B"/>
      </a:accent1>
      <a:accent2>
        <a:srgbClr val="2A9D8F"/>
      </a:accent2>
      <a:accent3>
        <a:srgbClr val="7B5EA7"/>
      </a:accent3>
      <a:accent4>
        <a:srgbClr val="F4A259"/>
      </a:accent4>
      <a:accent5>
        <a:srgbClr val="5B8DEF"/>
      </a:accent5>
      <a:accent6>
        <a:srgbClr val="E5DEF3"/>
      </a:accent6>
      <a:hlink>
        <a:srgbClr val="7B5EA7"/>
      </a:hlink>
      <a:folHlink>
        <a:srgbClr val="2D1B4E"/>
      </a:folHlink>
    </a:clrScheme>
    <a:fontScheme name="Senses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Ощущения</dc:title>
  <dc:subject>Психология: ощущения</dc:subject>
  <dc:creator>PptxGenJS</dc:creator>
  <cp:lastModifiedBy>PptxGenJS</cp:lastModifiedBy>
  <cp:revision>1</cp:revision>
  <dcterms:created xsi:type="dcterms:W3CDTF">2026-10-04T20:49:19Z</dcterms:created>
  <dcterms:modified xsi:type="dcterms:W3CDTF">2026-10-04T20:49:19Z</dcterms:modified>
</cp:coreProperties>
</file>